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Close Price ($)</c:v>
                </c:pt>
              </c:strCache>
            </c:strRef>
          </c:tx>
          <c:spPr>
            <a:solidFill>
              <a:srgbClr val="1FA774"/>
            </a:solidFill>
            <a:ln w="31750" cap="flat">
              <a:solidFill>
                <a:srgbClr val="1FA77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A774"/>
              </a:solidFill>
              <a:ln w="9525" cap="flat">
                <a:solidFill>
                  <a:srgbClr val="1FA774"/>
                </a:solidFill>
                <a:prstDash val="solid"/>
                <a:round/>
              </a:ln>
              <a:effectLst/>
            </c:spPr>
          </c:marker>
          <c:cat>
            <c:multiLvlStrRef>
              <c:f>Sheet1!$A$2:$A$11</c:f>
              <c:multiLvlStrCache>
                <c:ptCount val="10"/>
                <c:lvl>
                  <c:pt idx="0">
                    <c:v>W1</c:v>
                  </c:pt>
                  <c:pt idx="1">
                    <c:v>W2</c:v>
                  </c:pt>
                  <c:pt idx="2">
                    <c:v>W3</c:v>
                  </c:pt>
                  <c:pt idx="3">
                    <c:v>W4</c:v>
                  </c:pt>
                  <c:pt idx="4">
                    <c:v>W5</c:v>
                  </c:pt>
                  <c:pt idx="5">
                    <c:v>W6</c:v>
                  </c:pt>
                  <c:pt idx="6">
                    <c:v>W7</c:v>
                  </c:pt>
                  <c:pt idx="7">
                    <c:v>W8</c:v>
                  </c:pt>
                  <c:pt idx="8">
                    <c:v>W9</c:v>
                  </c:pt>
                  <c:pt idx="9">
                    <c:v>W10</c:v>
                  </c:pt>
                </c:lvl>
              </c:multiLvlStrCache>
            </c:multiLvlStrRef>
          </c:cat>
          <c:val>
            <c:numRef>
              <c:f>Sheet1!$B$2:$B$11</c:f>
              <c:numCache>
                <c:formatCode>General</c:formatCode>
                <c:ptCount val="10"/>
                <c:pt idx="0">
                  <c:v>102</c:v>
                </c:pt>
                <c:pt idx="1">
                  <c:v>107</c:v>
                </c:pt>
                <c:pt idx="2">
                  <c:v>105</c:v>
                </c:pt>
                <c:pt idx="3">
                  <c:v>111</c:v>
                </c:pt>
                <c:pt idx="4">
                  <c:v>118</c:v>
                </c:pt>
                <c:pt idx="5">
                  <c:v>114</c:v>
                </c:pt>
                <c:pt idx="6">
                  <c:v>121</c:v>
                </c:pt>
                <c:pt idx="7">
                  <c:v>128</c:v>
                </c:pt>
                <c:pt idx="8">
                  <c:v>124</c:v>
                </c:pt>
                <c:pt idx="9">
                  <c:v>133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A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Price</c:v>
                </c:pt>
              </c:strCache>
            </c:strRef>
          </c:tx>
          <c:spPr>
            <a:solidFill>
              <a:srgbClr val="21295C"/>
            </a:solidFill>
            <a:ln w="31750" cap="flat">
              <a:solidFill>
                <a:srgbClr val="2129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1295C"/>
              </a:solidFill>
              <a:ln w="9525" cap="flat">
                <a:solidFill>
                  <a:srgbClr val="21295C"/>
                </a:solidFill>
                <a:prstDash val="solid"/>
                <a:round/>
              </a:ln>
              <a:effectLst/>
            </c:spPr>
          </c:marker>
          <c:cat>
            <c:multiLvlStrRef>
              <c:f>Sheet1!$A$2:$A$13</c:f>
              <c:multiLvlStrCache>
                <c:ptCount val="12"/>
                <c:lvl>
                  <c:pt idx="0">
                    <c:v>D1</c:v>
                  </c:pt>
                  <c:pt idx="1">
                    <c:v>D2</c:v>
                  </c:pt>
                  <c:pt idx="2">
                    <c:v>D3</c:v>
                  </c:pt>
                  <c:pt idx="3">
                    <c:v>D4</c:v>
                  </c:pt>
                  <c:pt idx="4">
                    <c:v>D5</c:v>
                  </c:pt>
                  <c:pt idx="5">
                    <c:v>D6</c:v>
                  </c:pt>
                  <c:pt idx="6">
                    <c:v>D7</c:v>
                  </c:pt>
                  <c:pt idx="7">
                    <c:v>D8</c:v>
                  </c:pt>
                  <c:pt idx="8">
                    <c:v>D9</c:v>
                  </c:pt>
                  <c:pt idx="9">
                    <c:v>D10</c:v>
                  </c:pt>
                  <c:pt idx="10">
                    <c:v>D11</c:v>
                  </c:pt>
                  <c:pt idx="11">
                    <c:v>D12</c:v>
                  </c:pt>
                </c:lvl>
              </c:multiLvlStrCache>
            </c:multiLvlStrRef>
          </c:cat>
          <c:val>
            <c:numRef>
              <c:f>Sheet1!$B$2:$B$13</c:f>
              <c:numCache>
                <c:formatCode>General</c:formatCode>
                <c:ptCount val="12"/>
                <c:pt idx="0">
                  <c:v>120</c:v>
                </c:pt>
                <c:pt idx="1">
                  <c:v>124</c:v>
                </c:pt>
                <c:pt idx="2">
                  <c:v>119</c:v>
                </c:pt>
                <c:pt idx="3">
                  <c:v>128</c:v>
                </c:pt>
                <c:pt idx="4">
                  <c:v>135</c:v>
                </c:pt>
                <c:pt idx="5">
                  <c:v>131</c:v>
                </c:pt>
                <c:pt idx="6">
                  <c:v>140</c:v>
                </c:pt>
                <c:pt idx="7">
                  <c:v>138</c:v>
                </c:pt>
                <c:pt idx="8">
                  <c:v>145</c:v>
                </c:pt>
                <c:pt idx="9">
                  <c:v>150</c:v>
                </c:pt>
                <c:pt idx="10">
                  <c:v>148</c:v>
                </c:pt>
                <c:pt idx="11">
                  <c:v>156</c:v>
                </c:pt>
              </c:numCache>
            </c:numRef>
          </c:val>
          <c:smooth val="1"/>
        </c:ser>
        <c:ser>
          <c:idx val="1"/>
          <c:order val="1"/>
          <c:tx>
            <c:strRef>
              <c:f>Sheet1!$C$1</c:f>
              <c:strCache>
                <c:ptCount val="1"/>
                <c:pt idx="0">
                  <c:v>Predicted Price</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A541"/>
              </a:solidFill>
              <a:ln w="9525" cap="flat">
                <a:solidFill>
                  <a:srgbClr val="F2A541"/>
                </a:solidFill>
                <a:prstDash val="solid"/>
                <a:round/>
              </a:ln>
              <a:effectLst/>
            </c:spPr>
          </c:marker>
          <c:cat>
            <c:multiLvlStrRef>
              <c:f>Sheet1!$A$2:$A$13</c:f>
              <c:multiLvlStrCache>
                <c:ptCount val="12"/>
                <c:lvl>
                  <c:pt idx="0">
                    <c:v>D1</c:v>
                  </c:pt>
                  <c:pt idx="1">
                    <c:v>D2</c:v>
                  </c:pt>
                  <c:pt idx="2">
                    <c:v>D3</c:v>
                  </c:pt>
                  <c:pt idx="3">
                    <c:v>D4</c:v>
                  </c:pt>
                  <c:pt idx="4">
                    <c:v>D5</c:v>
                  </c:pt>
                  <c:pt idx="5">
                    <c:v>D6</c:v>
                  </c:pt>
                  <c:pt idx="6">
                    <c:v>D7</c:v>
                  </c:pt>
                  <c:pt idx="7">
                    <c:v>D8</c:v>
                  </c:pt>
                  <c:pt idx="8">
                    <c:v>D9</c:v>
                  </c:pt>
                  <c:pt idx="9">
                    <c:v>D10</c:v>
                  </c:pt>
                  <c:pt idx="10">
                    <c:v>D11</c:v>
                  </c:pt>
                  <c:pt idx="11">
                    <c:v>D12</c:v>
                  </c:pt>
                </c:lvl>
              </c:multiLvlStrCache>
            </c:multiLvlStrRef>
          </c:cat>
          <c:val>
            <c:numRef>
              <c:f>Sheet1!$C$2:$C$13</c:f>
              <c:numCache>
                <c:formatCode>General</c:formatCode>
                <c:ptCount val="12"/>
                <c:pt idx="0">
                  <c:v>118</c:v>
                </c:pt>
                <c:pt idx="1">
                  <c:v>122</c:v>
                </c:pt>
                <c:pt idx="2">
                  <c:v>121</c:v>
                </c:pt>
                <c:pt idx="3">
                  <c:v>126</c:v>
                </c:pt>
                <c:pt idx="4">
                  <c:v>132</c:v>
                </c:pt>
                <c:pt idx="5">
                  <c:v>133</c:v>
                </c:pt>
                <c:pt idx="6">
                  <c:v>137</c:v>
                </c:pt>
                <c:pt idx="7">
                  <c:v>140</c:v>
                </c:pt>
                <c:pt idx="8">
                  <c:v>142</c:v>
                </c:pt>
                <c:pt idx="9">
                  <c:v>147</c:v>
                </c:pt>
                <c:pt idx="10">
                  <c:v>150</c:v>
                </c:pt>
                <c:pt idx="11">
                  <c:v>153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AED"/>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Price ($)</a:t>
                </a:r>
              </a:p>
            </c:rich>
          </c:tx>
          <c:layout/>
          <c:overlay val="0"/>
        </c:title>
        <c:numFmt formatCode="General" sourceLinked="0"/>
        <c:majorTickMark val="out"/>
        <c:minorTickMark val="none"/>
        <c:tickLblPos val="nextTo"/>
        <c:spPr>
          <a:ln w="12700" cap="flat">
            <a:noFill/>
            <a:prstDash val="solid"/>
            <a:round/>
          </a:ln>
        </c:spPr>
        <c:txPr>
          <a:bodyPr/>
          <a:lstStyle/>
          <a:p>
            <a:pPr>
              <a:defRPr sz="900" b="0" i="0" u="none" strike="noStrike">
                <a:solidFill>
                  <a:srgbClr val="5B6B7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0536" y="3657600"/>
            <a:ext cx="0" cy="1463040"/>
          </a:xfrm>
          <a:prstGeom prst="line">
            <a:avLst/>
          </a:prstGeom>
          <a:noFill/>
          <a:ln w="15240">
            <a:solidFill>
              <a:srgbClr val="2E7D6B">
                <a:alpha val="75000"/>
              </a:srgbClr>
            </a:solidFill>
            <a:prstDash val="solid"/>
          </a:ln>
        </p:spPr>
      </p:sp>
      <p:sp>
        <p:nvSpPr>
          <p:cNvPr id="3" name="Shape 1"/>
          <p:cNvSpPr/>
          <p:nvPr/>
        </p:nvSpPr>
        <p:spPr>
          <a:xfrm>
            <a:off x="8778240" y="3886200"/>
            <a:ext cx="201168" cy="1005840"/>
          </a:xfrm>
          <a:prstGeom prst="rect">
            <a:avLst/>
          </a:prstGeom>
          <a:solidFill>
            <a:srgbClr val="2E7D6B">
              <a:alpha val="85000"/>
            </a:srgbClr>
          </a:solidFill>
          <a:ln/>
        </p:spPr>
      </p:sp>
      <p:sp>
        <p:nvSpPr>
          <p:cNvPr id="4" name="Shape 2"/>
          <p:cNvSpPr/>
          <p:nvPr/>
        </p:nvSpPr>
        <p:spPr>
          <a:xfrm>
            <a:off x="9363456" y="4023360"/>
            <a:ext cx="0" cy="1097280"/>
          </a:xfrm>
          <a:prstGeom prst="line">
            <a:avLst/>
          </a:prstGeom>
          <a:noFill/>
          <a:ln w="15240">
            <a:solidFill>
              <a:srgbClr val="8C3B3B">
                <a:alpha val="75000"/>
              </a:srgbClr>
            </a:solidFill>
            <a:prstDash val="solid"/>
          </a:ln>
        </p:spPr>
      </p:sp>
      <p:sp>
        <p:nvSpPr>
          <p:cNvPr id="5" name="Shape 3"/>
          <p:cNvSpPr/>
          <p:nvPr/>
        </p:nvSpPr>
        <p:spPr>
          <a:xfrm>
            <a:off x="9281160" y="4206240"/>
            <a:ext cx="201168" cy="731520"/>
          </a:xfrm>
          <a:prstGeom prst="rect">
            <a:avLst/>
          </a:prstGeom>
          <a:solidFill>
            <a:srgbClr val="8C3B3B">
              <a:alpha val="85000"/>
            </a:srgbClr>
          </a:solidFill>
          <a:ln/>
        </p:spPr>
      </p:sp>
      <p:sp>
        <p:nvSpPr>
          <p:cNvPr id="6" name="Shape 4"/>
          <p:cNvSpPr/>
          <p:nvPr/>
        </p:nvSpPr>
        <p:spPr>
          <a:xfrm>
            <a:off x="9866376" y="3200400"/>
            <a:ext cx="0" cy="1920240"/>
          </a:xfrm>
          <a:prstGeom prst="line">
            <a:avLst/>
          </a:prstGeom>
          <a:noFill/>
          <a:ln w="15240">
            <a:solidFill>
              <a:srgbClr val="2E7D6B">
                <a:alpha val="75000"/>
              </a:srgbClr>
            </a:solidFill>
            <a:prstDash val="solid"/>
          </a:ln>
        </p:spPr>
      </p:sp>
      <p:sp>
        <p:nvSpPr>
          <p:cNvPr id="7" name="Shape 5"/>
          <p:cNvSpPr/>
          <p:nvPr/>
        </p:nvSpPr>
        <p:spPr>
          <a:xfrm>
            <a:off x="9784080" y="3429000"/>
            <a:ext cx="201168" cy="1463040"/>
          </a:xfrm>
          <a:prstGeom prst="rect">
            <a:avLst/>
          </a:prstGeom>
          <a:solidFill>
            <a:srgbClr val="2E7D6B">
              <a:alpha val="85000"/>
            </a:srgbClr>
          </a:solidFill>
          <a:ln/>
        </p:spPr>
      </p:sp>
      <p:sp>
        <p:nvSpPr>
          <p:cNvPr id="8" name="Shape 6"/>
          <p:cNvSpPr/>
          <p:nvPr/>
        </p:nvSpPr>
        <p:spPr>
          <a:xfrm>
            <a:off x="10369296" y="3931920"/>
            <a:ext cx="0" cy="1188720"/>
          </a:xfrm>
          <a:prstGeom prst="line">
            <a:avLst/>
          </a:prstGeom>
          <a:noFill/>
          <a:ln w="15240">
            <a:solidFill>
              <a:srgbClr val="2E7D6B">
                <a:alpha val="75000"/>
              </a:srgbClr>
            </a:solidFill>
            <a:prstDash val="solid"/>
          </a:ln>
        </p:spPr>
      </p:sp>
      <p:sp>
        <p:nvSpPr>
          <p:cNvPr id="9" name="Shape 7"/>
          <p:cNvSpPr/>
          <p:nvPr/>
        </p:nvSpPr>
        <p:spPr>
          <a:xfrm>
            <a:off x="10287000" y="4114800"/>
            <a:ext cx="201168" cy="822960"/>
          </a:xfrm>
          <a:prstGeom prst="rect">
            <a:avLst/>
          </a:prstGeom>
          <a:solidFill>
            <a:srgbClr val="2E7D6B">
              <a:alpha val="85000"/>
            </a:srgbClr>
          </a:solidFill>
          <a:ln/>
        </p:spPr>
      </p:sp>
      <p:sp>
        <p:nvSpPr>
          <p:cNvPr id="10" name="Shape 8"/>
          <p:cNvSpPr/>
          <p:nvPr/>
        </p:nvSpPr>
        <p:spPr>
          <a:xfrm>
            <a:off x="10872216" y="3474720"/>
            <a:ext cx="0" cy="1645920"/>
          </a:xfrm>
          <a:prstGeom prst="line">
            <a:avLst/>
          </a:prstGeom>
          <a:noFill/>
          <a:ln w="15240">
            <a:solidFill>
              <a:srgbClr val="8C3B3B">
                <a:alpha val="75000"/>
              </a:srgbClr>
            </a:solidFill>
            <a:prstDash val="solid"/>
          </a:ln>
        </p:spPr>
      </p:sp>
      <p:sp>
        <p:nvSpPr>
          <p:cNvPr id="11" name="Shape 9"/>
          <p:cNvSpPr/>
          <p:nvPr/>
        </p:nvSpPr>
        <p:spPr>
          <a:xfrm>
            <a:off x="10789920" y="3703320"/>
            <a:ext cx="201168" cy="1188720"/>
          </a:xfrm>
          <a:prstGeom prst="rect">
            <a:avLst/>
          </a:prstGeom>
          <a:solidFill>
            <a:srgbClr val="8C3B3B">
              <a:alpha val="85000"/>
            </a:srgbClr>
          </a:solidFill>
          <a:ln/>
        </p:spPr>
      </p:sp>
      <p:sp>
        <p:nvSpPr>
          <p:cNvPr id="12" name="Shape 10"/>
          <p:cNvSpPr/>
          <p:nvPr/>
        </p:nvSpPr>
        <p:spPr>
          <a:xfrm>
            <a:off x="11375136" y="2926080"/>
            <a:ext cx="0" cy="2194560"/>
          </a:xfrm>
          <a:prstGeom prst="line">
            <a:avLst/>
          </a:prstGeom>
          <a:noFill/>
          <a:ln w="15240">
            <a:solidFill>
              <a:srgbClr val="2E7D6B">
                <a:alpha val="75000"/>
              </a:srgbClr>
            </a:solidFill>
            <a:prstDash val="solid"/>
          </a:ln>
        </p:spPr>
      </p:sp>
      <p:sp>
        <p:nvSpPr>
          <p:cNvPr id="13" name="Shape 11"/>
          <p:cNvSpPr/>
          <p:nvPr/>
        </p:nvSpPr>
        <p:spPr>
          <a:xfrm>
            <a:off x="11292840" y="3154680"/>
            <a:ext cx="201168" cy="1737360"/>
          </a:xfrm>
          <a:prstGeom prst="rect">
            <a:avLst/>
          </a:prstGeom>
          <a:solidFill>
            <a:srgbClr val="2E7D6B">
              <a:alpha val="85000"/>
            </a:srgbClr>
          </a:solidFill>
          <a:ln/>
        </p:spPr>
      </p:sp>
      <p:sp>
        <p:nvSpPr>
          <p:cNvPr id="14" name="Text 12"/>
          <p:cNvSpPr txBox="1"/>
          <p:nvPr/>
        </p:nvSpPr>
        <p:spPr>
          <a:xfrm>
            <a:off x="640080" y="1371600"/>
            <a:ext cx="8229600" cy="365760"/>
          </a:xfrm>
          <a:prstGeom prst="rect">
            <a:avLst/>
          </a:prstGeom>
          <a:noFill/>
          <a:ln/>
        </p:spPr>
        <p:txBody>
          <a:bodyPr wrap="square"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SEMESTER PROJECT  •  DATA SCIENCE &amp; MACHINE LEARNING</a:t>
            </a:r>
            <a:endParaRPr lang="en-US" sz="1300" dirty="0"/>
          </a:p>
        </p:txBody>
      </p:sp>
      <p:sp>
        <p:nvSpPr>
          <p:cNvPr id="15" name="Text 13"/>
          <p:cNvSpPr txBox="1"/>
          <p:nvPr/>
        </p:nvSpPr>
        <p:spPr>
          <a:xfrm>
            <a:off x="594360" y="1828800"/>
            <a:ext cx="86868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Stock Price Prediction</a:t>
            </a:r>
            <a:endParaRPr lang="en-US" sz="4800" dirty="0"/>
          </a:p>
        </p:txBody>
      </p:sp>
      <p:sp>
        <p:nvSpPr>
          <p:cNvPr id="16" name="Text 14"/>
          <p:cNvSpPr txBox="1"/>
          <p:nvPr/>
        </p:nvSpPr>
        <p:spPr>
          <a:xfrm>
            <a:off x="640080" y="2880360"/>
            <a:ext cx="8229600" cy="548640"/>
          </a:xfrm>
          <a:prstGeom prst="rect">
            <a:avLst/>
          </a:prstGeom>
          <a:noFill/>
          <a:ln/>
        </p:spPr>
        <p:txBody>
          <a:bodyPr wrap="square" rtlCol="0" anchor="ctr"/>
          <a:lstStyle/>
          <a:p>
            <a:pPr indent="0" marL="0">
              <a:buNone/>
            </a:pPr>
            <a:r>
              <a:rPr lang="en-US" sz="1900" i="1" dirty="0">
                <a:solidFill>
                  <a:srgbClr val="CFE8EF"/>
                </a:solidFill>
                <a:latin typeface="Calibri" pitchFamily="34" charset="0"/>
                <a:ea typeface="Calibri" pitchFamily="34" charset="-122"/>
                <a:cs typeface="Calibri" pitchFamily="34" charset="-120"/>
              </a:rPr>
              <a:t>Using Machine Learning &amp; Time-Series Analysis</a:t>
            </a:r>
            <a:endParaRPr lang="en-US" sz="1900" dirty="0"/>
          </a:p>
        </p:txBody>
      </p:sp>
      <p:sp>
        <p:nvSpPr>
          <p:cNvPr id="17" name="Shape 15"/>
          <p:cNvSpPr/>
          <p:nvPr/>
        </p:nvSpPr>
        <p:spPr>
          <a:xfrm>
            <a:off x="640080" y="3657600"/>
            <a:ext cx="3840480" cy="0"/>
          </a:xfrm>
          <a:prstGeom prst="line">
            <a:avLst/>
          </a:prstGeom>
          <a:noFill/>
          <a:ln w="19050">
            <a:solidFill>
              <a:srgbClr val="1C7293"/>
            </a:solidFill>
            <a:prstDash val="solid"/>
          </a:ln>
        </p:spPr>
      </p:sp>
      <p:sp>
        <p:nvSpPr>
          <p:cNvPr id="18" name="Shape 16"/>
          <p:cNvSpPr/>
          <p:nvPr/>
        </p:nvSpPr>
        <p:spPr>
          <a:xfrm>
            <a:off x="594360" y="3977640"/>
            <a:ext cx="6035040" cy="2148840"/>
          </a:xfrm>
          <a:prstGeom prst="roundRect">
            <a:avLst>
              <a:gd name="adj" fmla="val 5106"/>
            </a:avLst>
          </a:prstGeom>
          <a:solidFill>
            <a:srgbClr val="1A2050"/>
          </a:solidFill>
          <a:ln w="12700">
            <a:solidFill>
              <a:srgbClr val="1C7293"/>
            </a:solidFill>
            <a:prstDash val="solid"/>
          </a:ln>
        </p:spPr>
      </p:sp>
      <p:sp>
        <p:nvSpPr>
          <p:cNvPr id="19" name="Text 17"/>
          <p:cNvSpPr txBox="1"/>
          <p:nvPr/>
        </p:nvSpPr>
        <p:spPr>
          <a:xfrm>
            <a:off x="868680" y="4224528"/>
            <a:ext cx="1828800" cy="384048"/>
          </a:xfrm>
          <a:prstGeom prst="rect">
            <a:avLst/>
          </a:prstGeom>
          <a:noFill/>
          <a:ln/>
        </p:spPr>
        <p:txBody>
          <a:bodyPr wrap="square"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NAME</a:t>
            </a:r>
            <a:endParaRPr lang="en-US" sz="1100" dirty="0"/>
          </a:p>
        </p:txBody>
      </p:sp>
      <p:sp>
        <p:nvSpPr>
          <p:cNvPr id="20" name="Text 18"/>
          <p:cNvSpPr txBox="1"/>
          <p:nvPr/>
        </p:nvSpPr>
        <p:spPr>
          <a:xfrm>
            <a:off x="2697480" y="4197096"/>
            <a:ext cx="3749040" cy="420624"/>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Prince Kumar</a:t>
            </a:r>
            <a:endParaRPr lang="en-US" sz="1450" dirty="0"/>
          </a:p>
        </p:txBody>
      </p:sp>
      <p:sp>
        <p:nvSpPr>
          <p:cNvPr id="21" name="Text 19"/>
          <p:cNvSpPr txBox="1"/>
          <p:nvPr/>
        </p:nvSpPr>
        <p:spPr>
          <a:xfrm>
            <a:off x="868680" y="4700016"/>
            <a:ext cx="1828800" cy="384048"/>
          </a:xfrm>
          <a:prstGeom prst="rect">
            <a:avLst/>
          </a:prstGeom>
          <a:noFill/>
          <a:ln/>
        </p:spPr>
        <p:txBody>
          <a:bodyPr wrap="square"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ROLL NO.</a:t>
            </a:r>
            <a:endParaRPr lang="en-US" sz="1100" dirty="0"/>
          </a:p>
        </p:txBody>
      </p:sp>
      <p:sp>
        <p:nvSpPr>
          <p:cNvPr id="22" name="Text 20"/>
          <p:cNvSpPr txBox="1"/>
          <p:nvPr/>
        </p:nvSpPr>
        <p:spPr>
          <a:xfrm>
            <a:off x="2697480" y="4672584"/>
            <a:ext cx="3749040" cy="420624"/>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25SCS1003002796</a:t>
            </a:r>
            <a:endParaRPr lang="en-US" sz="1450" dirty="0"/>
          </a:p>
        </p:txBody>
      </p:sp>
      <p:sp>
        <p:nvSpPr>
          <p:cNvPr id="23" name="Text 21"/>
          <p:cNvSpPr txBox="1"/>
          <p:nvPr/>
        </p:nvSpPr>
        <p:spPr>
          <a:xfrm>
            <a:off x="868680" y="5175504"/>
            <a:ext cx="1828800" cy="384048"/>
          </a:xfrm>
          <a:prstGeom prst="rect">
            <a:avLst/>
          </a:prstGeom>
          <a:noFill/>
          <a:ln/>
        </p:spPr>
        <p:txBody>
          <a:bodyPr wrap="square"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COLLEGE</a:t>
            </a:r>
            <a:endParaRPr lang="en-US" sz="1100" dirty="0"/>
          </a:p>
        </p:txBody>
      </p:sp>
      <p:sp>
        <p:nvSpPr>
          <p:cNvPr id="24" name="Text 22"/>
          <p:cNvSpPr txBox="1"/>
          <p:nvPr/>
        </p:nvSpPr>
        <p:spPr>
          <a:xfrm>
            <a:off x="2697480" y="5148072"/>
            <a:ext cx="3749040" cy="420624"/>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IILM University, Greater Noida</a:t>
            </a:r>
            <a:endParaRPr lang="en-US" sz="1450" dirty="0"/>
          </a:p>
        </p:txBody>
      </p:sp>
      <p:sp>
        <p:nvSpPr>
          <p:cNvPr id="25" name="Text 23"/>
          <p:cNvSpPr txBox="1"/>
          <p:nvPr/>
        </p:nvSpPr>
        <p:spPr>
          <a:xfrm>
            <a:off x="868680" y="5650992"/>
            <a:ext cx="1828800" cy="384048"/>
          </a:xfrm>
          <a:prstGeom prst="rect">
            <a:avLst/>
          </a:prstGeom>
          <a:noFill/>
          <a:ln/>
        </p:spPr>
        <p:txBody>
          <a:bodyPr wrap="square"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SEMESTER</a:t>
            </a:r>
            <a:endParaRPr lang="en-US" sz="1100" dirty="0"/>
          </a:p>
        </p:txBody>
      </p:sp>
      <p:sp>
        <p:nvSpPr>
          <p:cNvPr id="26" name="Text 24"/>
          <p:cNvSpPr txBox="1"/>
          <p:nvPr/>
        </p:nvSpPr>
        <p:spPr>
          <a:xfrm>
            <a:off x="2697480" y="5623560"/>
            <a:ext cx="3749040" cy="420624"/>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3rd Semester</a:t>
            </a:r>
            <a:endParaRPr lang="en-US" sz="1450" dirty="0"/>
          </a:p>
        </p:txBody>
      </p:sp>
      <p:sp>
        <p:nvSpPr>
          <p:cNvPr id="27" name="Text 2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Stock Price Prediction?</a:t>
            </a:r>
            <a:endParaRPr lang="en-US" sz="3000" dirty="0"/>
          </a:p>
        </p:txBody>
      </p:sp>
      <p:sp>
        <p:nvSpPr>
          <p:cNvPr id="4" name="Text 2"/>
          <p:cNvSpPr txBox="1"/>
          <p:nvPr/>
        </p:nvSpPr>
        <p:spPr>
          <a:xfrm>
            <a:off x="548640" y="1600200"/>
            <a:ext cx="6035040" cy="1920240"/>
          </a:xfrm>
          <a:prstGeom prst="rect">
            <a:avLst/>
          </a:prstGeom>
          <a:noFill/>
          <a:ln/>
        </p:spPr>
        <p:txBody>
          <a:bodyPr wrap="square" rtlCol="0" anchor="ctr"/>
          <a:lstStyle/>
          <a:p>
            <a:pPr indent="0" marL="0">
              <a:lnSpc>
                <a:spcPct val="125000"/>
              </a:lnSpc>
              <a:buNone/>
            </a:pPr>
            <a:r>
              <a:rPr lang="en-US" sz="1500" dirty="0">
                <a:solidFill>
                  <a:srgbClr val="1B1F2A"/>
                </a:solidFill>
                <a:latin typeface="Calibri" pitchFamily="34" charset="0"/>
                <a:ea typeface="Calibri" pitchFamily="34" charset="-122"/>
                <a:cs typeface="Calibri" pitchFamily="34" charset="-120"/>
              </a:rPr>
              <a:t>Stock price prediction is the process of forecasting the future value of a company's stock using historical price data, trading volume, and other market indicators. It combines finance, statistics, and machine learning to identify patterns that may indicate future price movement.</a:t>
            </a:r>
            <a:endParaRPr lang="en-US" sz="1500" dirty="0"/>
          </a:p>
        </p:txBody>
      </p:sp>
      <p:sp>
        <p:nvSpPr>
          <p:cNvPr id="5" name="Shape 3"/>
          <p:cNvSpPr/>
          <p:nvPr/>
        </p:nvSpPr>
        <p:spPr>
          <a:xfrm>
            <a:off x="548640" y="3611880"/>
            <a:ext cx="384048" cy="384048"/>
          </a:xfrm>
          <a:prstGeom prst="ellipse">
            <a:avLst/>
          </a:prstGeom>
          <a:solidFill>
            <a:srgbClr val="1C7293"/>
          </a:solidFill>
          <a:ln/>
        </p:spPr>
      </p:sp>
      <p:sp>
        <p:nvSpPr>
          <p:cNvPr id="6" name="Text 4"/>
          <p:cNvSpPr txBox="1"/>
          <p:nvPr/>
        </p:nvSpPr>
        <p:spPr>
          <a:xfrm>
            <a:off x="548640" y="361188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1097280" y="3584448"/>
            <a:ext cx="5394960" cy="3200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Why it matters</a:t>
            </a:r>
            <a:endParaRPr lang="en-US" sz="1450" dirty="0"/>
          </a:p>
        </p:txBody>
      </p:sp>
      <p:sp>
        <p:nvSpPr>
          <p:cNvPr id="8" name="Text 6"/>
          <p:cNvSpPr txBox="1"/>
          <p:nvPr/>
        </p:nvSpPr>
        <p:spPr>
          <a:xfrm>
            <a:off x="1097280" y="3913632"/>
            <a:ext cx="5394960" cy="548640"/>
          </a:xfrm>
          <a:prstGeom prst="rect">
            <a:avLst/>
          </a:prstGeom>
          <a:noFill/>
          <a:ln/>
        </p:spPr>
        <p:txBody>
          <a:bodyPr wrap="square" rtlCol="0" anchor="ctr"/>
          <a:lstStyle/>
          <a:p>
            <a:pPr indent="0" marL="0">
              <a:buNone/>
            </a:pPr>
            <a:r>
              <a:rPr lang="en-US" sz="1250" dirty="0">
                <a:solidFill>
                  <a:srgbClr val="5B6B79"/>
                </a:solidFill>
                <a:latin typeface="Calibri" pitchFamily="34" charset="0"/>
                <a:ea typeface="Calibri" pitchFamily="34" charset="-122"/>
                <a:cs typeface="Calibri" pitchFamily="34" charset="-120"/>
              </a:rPr>
              <a:t>Helps investors, analysts and institutions make informed, data-driven decisions.</a:t>
            </a:r>
            <a:endParaRPr lang="en-US" sz="1250" dirty="0"/>
          </a:p>
        </p:txBody>
      </p:sp>
      <p:sp>
        <p:nvSpPr>
          <p:cNvPr id="9" name="Shape 7"/>
          <p:cNvSpPr/>
          <p:nvPr/>
        </p:nvSpPr>
        <p:spPr>
          <a:xfrm>
            <a:off x="548640" y="4544568"/>
            <a:ext cx="384048" cy="384048"/>
          </a:xfrm>
          <a:prstGeom prst="ellipse">
            <a:avLst/>
          </a:prstGeom>
          <a:solidFill>
            <a:srgbClr val="1C7293"/>
          </a:solidFill>
          <a:ln/>
        </p:spPr>
      </p:sp>
      <p:sp>
        <p:nvSpPr>
          <p:cNvPr id="10" name="Text 8"/>
          <p:cNvSpPr txBox="1"/>
          <p:nvPr/>
        </p:nvSpPr>
        <p:spPr>
          <a:xfrm>
            <a:off x="548640" y="4544568"/>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097280" y="4517136"/>
            <a:ext cx="5394960" cy="3200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Nature of the problem</a:t>
            </a:r>
            <a:endParaRPr lang="en-US" sz="1450" dirty="0"/>
          </a:p>
        </p:txBody>
      </p:sp>
      <p:sp>
        <p:nvSpPr>
          <p:cNvPr id="12" name="Text 10"/>
          <p:cNvSpPr txBox="1"/>
          <p:nvPr/>
        </p:nvSpPr>
        <p:spPr>
          <a:xfrm>
            <a:off x="1097280" y="4846320"/>
            <a:ext cx="5394960" cy="548640"/>
          </a:xfrm>
          <a:prstGeom prst="rect">
            <a:avLst/>
          </a:prstGeom>
          <a:noFill/>
          <a:ln/>
        </p:spPr>
        <p:txBody>
          <a:bodyPr wrap="square" rtlCol="0" anchor="ctr"/>
          <a:lstStyle/>
          <a:p>
            <a:pPr indent="0" marL="0">
              <a:buNone/>
            </a:pPr>
            <a:r>
              <a:rPr lang="en-US" sz="1250" dirty="0">
                <a:solidFill>
                  <a:srgbClr val="5B6B79"/>
                </a:solidFill>
                <a:latin typeface="Calibri" pitchFamily="34" charset="0"/>
                <a:ea typeface="Calibri" pitchFamily="34" charset="-122"/>
                <a:cs typeface="Calibri" pitchFamily="34" charset="-120"/>
              </a:rPr>
              <a:t>Stock markets are highly volatile, non-linear and influenced by many external factors.</a:t>
            </a:r>
            <a:endParaRPr lang="en-US" sz="1250" dirty="0"/>
          </a:p>
        </p:txBody>
      </p:sp>
      <p:sp>
        <p:nvSpPr>
          <p:cNvPr id="13" name="Shape 11"/>
          <p:cNvSpPr/>
          <p:nvPr/>
        </p:nvSpPr>
        <p:spPr>
          <a:xfrm>
            <a:off x="548640" y="5477256"/>
            <a:ext cx="384048" cy="384048"/>
          </a:xfrm>
          <a:prstGeom prst="ellipse">
            <a:avLst/>
          </a:prstGeom>
          <a:solidFill>
            <a:srgbClr val="1C7293"/>
          </a:solidFill>
          <a:ln/>
        </p:spPr>
      </p:sp>
      <p:sp>
        <p:nvSpPr>
          <p:cNvPr id="14" name="Text 12"/>
          <p:cNvSpPr txBox="1"/>
          <p:nvPr/>
        </p:nvSpPr>
        <p:spPr>
          <a:xfrm>
            <a:off x="548640" y="5477256"/>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097280" y="5449824"/>
            <a:ext cx="5394960" cy="3200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Our approach</a:t>
            </a:r>
            <a:endParaRPr lang="en-US" sz="1450" dirty="0"/>
          </a:p>
        </p:txBody>
      </p:sp>
      <p:sp>
        <p:nvSpPr>
          <p:cNvPr id="16" name="Text 14"/>
          <p:cNvSpPr txBox="1"/>
          <p:nvPr/>
        </p:nvSpPr>
        <p:spPr>
          <a:xfrm>
            <a:off x="1097280" y="5779008"/>
            <a:ext cx="5394960" cy="548640"/>
          </a:xfrm>
          <a:prstGeom prst="rect">
            <a:avLst/>
          </a:prstGeom>
          <a:noFill/>
          <a:ln/>
        </p:spPr>
        <p:txBody>
          <a:bodyPr wrap="square" rtlCol="0" anchor="ctr"/>
          <a:lstStyle/>
          <a:p>
            <a:pPr indent="0" marL="0">
              <a:buNone/>
            </a:pPr>
            <a:r>
              <a:rPr lang="en-US" sz="1250" dirty="0">
                <a:solidFill>
                  <a:srgbClr val="5B6B79"/>
                </a:solidFill>
                <a:latin typeface="Calibri" pitchFamily="34" charset="0"/>
                <a:ea typeface="Calibri" pitchFamily="34" charset="-122"/>
                <a:cs typeface="Calibri" pitchFamily="34" charset="-120"/>
              </a:rPr>
              <a:t>Use historical OHLC data with ML / deep-learning models to forecast future closing prices.</a:t>
            </a:r>
            <a:endParaRPr lang="en-US" sz="1250" dirty="0"/>
          </a:p>
        </p:txBody>
      </p:sp>
      <p:sp>
        <p:nvSpPr>
          <p:cNvPr id="17" name="Shape 15"/>
          <p:cNvSpPr/>
          <p:nvPr/>
        </p:nvSpPr>
        <p:spPr>
          <a:xfrm>
            <a:off x="7040880" y="1554480"/>
            <a:ext cx="4572000" cy="4663440"/>
          </a:xfrm>
          <a:prstGeom prst="roundRect">
            <a:avLst>
              <a:gd name="adj" fmla="val 2000"/>
            </a:avLst>
          </a:prstGeom>
          <a:solidFill>
            <a:srgbClr val="F4F8FA"/>
          </a:solidFill>
          <a:ln w="12700">
            <a:solidFill>
              <a:srgbClr val="DCE7EC"/>
            </a:solidFill>
            <a:prstDash val="solid"/>
          </a:ln>
        </p:spPr>
      </p:sp>
      <p:sp>
        <p:nvSpPr>
          <p:cNvPr id="18" name="Text 16"/>
          <p:cNvSpPr txBox="1"/>
          <p:nvPr/>
        </p:nvSpPr>
        <p:spPr>
          <a:xfrm>
            <a:off x="7269480" y="1737360"/>
            <a:ext cx="41148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SAMPLE CLOSING PRICE TREND</a:t>
            </a:r>
            <a:endParaRPr lang="en-US" sz="1100" dirty="0"/>
          </a:p>
        </p:txBody>
      </p:sp>
      <p:graphicFrame>
        <p:nvGraphicFramePr>
          <p:cNvPr id="19" name="Chart 0" descr=""/>
          <p:cNvGraphicFramePr/>
          <p:nvPr/>
        </p:nvGraphicFramePr>
        <p:xfrm>
          <a:off x="7178040" y="2103120"/>
          <a:ext cx="4297680" cy="228600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269480" y="4526280"/>
            <a:ext cx="4114800" cy="1463040"/>
          </a:xfrm>
          <a:prstGeom prst="rect">
            <a:avLst/>
          </a:prstGeom>
          <a:noFill/>
          <a:ln/>
        </p:spPr>
        <p:txBody>
          <a:bodyPr wrap="square" rtlCol="0" anchor="ctr"/>
          <a:lstStyle/>
          <a:p>
            <a:pPr indent="0" marL="0">
              <a:buNone/>
            </a:pPr>
            <a:r>
              <a:rPr lang="en-US" sz="1150" i="1" dirty="0">
                <a:solidFill>
                  <a:srgbClr val="5B6B79"/>
                </a:solidFill>
                <a:latin typeface="Calibri" pitchFamily="34" charset="0"/>
                <a:ea typeface="Calibri" pitchFamily="34" charset="-122"/>
                <a:cs typeface="Calibri" pitchFamily="34" charset="-120"/>
              </a:rPr>
              <a:t>Real-world prices form noisy, non-linear time series — the pattern ML models are trained to learn.</a:t>
            </a:r>
            <a:endParaRPr lang="en-US" sz="1150" dirty="0"/>
          </a:p>
        </p:txBody>
      </p:sp>
      <p:sp>
        <p:nvSpPr>
          <p:cNvPr id="21" name="Text 18"/>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Challenge We Are Addressing</a:t>
            </a:r>
            <a:endParaRPr lang="en-US" sz="3000" dirty="0"/>
          </a:p>
        </p:txBody>
      </p:sp>
      <p:sp>
        <p:nvSpPr>
          <p:cNvPr id="4" name="Text 2"/>
          <p:cNvSpPr txBox="1"/>
          <p:nvPr/>
        </p:nvSpPr>
        <p:spPr>
          <a:xfrm>
            <a:off x="548640" y="1554480"/>
            <a:ext cx="10789920" cy="914400"/>
          </a:xfrm>
          <a:prstGeom prst="rect">
            <a:avLst/>
          </a:prstGeom>
          <a:noFill/>
          <a:ln/>
        </p:spPr>
        <p:txBody>
          <a:bodyPr wrap="square" rtlCol="0" anchor="ctr"/>
          <a:lstStyle/>
          <a:p>
            <a:pPr indent="0" marL="0">
              <a:lnSpc>
                <a:spcPct val="120000"/>
              </a:lnSpc>
              <a:buNone/>
            </a:pPr>
            <a:r>
              <a:rPr lang="en-US" sz="1500" dirty="0">
                <a:solidFill>
                  <a:srgbClr val="1B1F2A"/>
                </a:solidFill>
                <a:latin typeface="Calibri" pitchFamily="34" charset="0"/>
                <a:ea typeface="Calibri" pitchFamily="34" charset="-122"/>
                <a:cs typeface="Calibri" pitchFamily="34" charset="-120"/>
              </a:rPr>
              <a:t>Traditional analysis methods struggle to capture the complex, non-linear behaviour of financial markets. Investors need a reliable, data-driven model that can learn from historical trends and assist in forecasting near-future stock prices with reasonable accuracy.</a:t>
            </a:r>
            <a:endParaRPr lang="en-US" sz="1500" dirty="0"/>
          </a:p>
        </p:txBody>
      </p:sp>
      <p:sp>
        <p:nvSpPr>
          <p:cNvPr id="5" name="Shape 3"/>
          <p:cNvSpPr/>
          <p:nvPr/>
        </p:nvSpPr>
        <p:spPr>
          <a:xfrm>
            <a:off x="548640" y="2788920"/>
            <a:ext cx="2697480" cy="3063240"/>
          </a:xfrm>
          <a:prstGeom prst="roundRect">
            <a:avLst>
              <a:gd name="adj" fmla="val 3390"/>
            </a:avLst>
          </a:prstGeom>
          <a:solidFill>
            <a:srgbClr val="F7F9FA"/>
          </a:solidFill>
          <a:ln w="12700">
            <a:solidFill>
              <a:srgbClr val="E3E8EA"/>
            </a:solidFill>
            <a:prstDash val="solid"/>
          </a:ln>
        </p:spPr>
      </p:sp>
      <p:sp>
        <p:nvSpPr>
          <p:cNvPr id="6" name="Shape 4"/>
          <p:cNvSpPr/>
          <p:nvPr/>
        </p:nvSpPr>
        <p:spPr>
          <a:xfrm>
            <a:off x="777240" y="3063240"/>
            <a:ext cx="548640" cy="548640"/>
          </a:xfrm>
          <a:prstGeom prst="ellipse">
            <a:avLst/>
          </a:prstGeom>
          <a:solidFill>
            <a:srgbClr val="D64545"/>
          </a:solidFill>
          <a:ln/>
        </p:spPr>
      </p:sp>
      <p:sp>
        <p:nvSpPr>
          <p:cNvPr id="7" name="Text 5"/>
          <p:cNvSpPr txBox="1"/>
          <p:nvPr/>
        </p:nvSpPr>
        <p:spPr>
          <a:xfrm>
            <a:off x="777240" y="30632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749808" y="3794760"/>
            <a:ext cx="2295144" cy="50292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High Volatility</a:t>
            </a:r>
            <a:endParaRPr lang="en-US" sz="1400" dirty="0"/>
          </a:p>
        </p:txBody>
      </p:sp>
      <p:sp>
        <p:nvSpPr>
          <p:cNvPr id="9" name="Text 7"/>
          <p:cNvSpPr txBox="1"/>
          <p:nvPr/>
        </p:nvSpPr>
        <p:spPr>
          <a:xfrm>
            <a:off x="749808" y="4279392"/>
            <a:ext cx="2295144" cy="141732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Prices fluctuate rapidly due to news, sentiment and global events.</a:t>
            </a:r>
            <a:endParaRPr lang="en-US" sz="1150" dirty="0"/>
          </a:p>
        </p:txBody>
      </p:sp>
      <p:sp>
        <p:nvSpPr>
          <p:cNvPr id="10" name="Shape 8"/>
          <p:cNvSpPr/>
          <p:nvPr/>
        </p:nvSpPr>
        <p:spPr>
          <a:xfrm>
            <a:off x="3474720" y="2788920"/>
            <a:ext cx="2697480" cy="3063240"/>
          </a:xfrm>
          <a:prstGeom prst="roundRect">
            <a:avLst>
              <a:gd name="adj" fmla="val 3390"/>
            </a:avLst>
          </a:prstGeom>
          <a:solidFill>
            <a:srgbClr val="F7F9FA"/>
          </a:solidFill>
          <a:ln w="12700">
            <a:solidFill>
              <a:srgbClr val="E3E8EA"/>
            </a:solidFill>
            <a:prstDash val="solid"/>
          </a:ln>
        </p:spPr>
      </p:sp>
      <p:sp>
        <p:nvSpPr>
          <p:cNvPr id="11" name="Shape 9"/>
          <p:cNvSpPr/>
          <p:nvPr/>
        </p:nvSpPr>
        <p:spPr>
          <a:xfrm>
            <a:off x="3703320" y="3063240"/>
            <a:ext cx="548640" cy="548640"/>
          </a:xfrm>
          <a:prstGeom prst="ellipse">
            <a:avLst/>
          </a:prstGeom>
          <a:solidFill>
            <a:srgbClr val="F2A541"/>
          </a:solidFill>
          <a:ln/>
        </p:spPr>
      </p:sp>
      <p:sp>
        <p:nvSpPr>
          <p:cNvPr id="12" name="Text 10"/>
          <p:cNvSpPr txBox="1"/>
          <p:nvPr/>
        </p:nvSpPr>
        <p:spPr>
          <a:xfrm>
            <a:off x="3703320" y="30632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3675888" y="3794760"/>
            <a:ext cx="2295144" cy="50292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Non-linear Patterns</a:t>
            </a:r>
            <a:endParaRPr lang="en-US" sz="1400" dirty="0"/>
          </a:p>
        </p:txBody>
      </p:sp>
      <p:sp>
        <p:nvSpPr>
          <p:cNvPr id="14" name="Text 12"/>
          <p:cNvSpPr txBox="1"/>
          <p:nvPr/>
        </p:nvSpPr>
        <p:spPr>
          <a:xfrm>
            <a:off x="3675888" y="4279392"/>
            <a:ext cx="2295144" cy="141732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Simple linear models fail to capture complex market behaviour.</a:t>
            </a:r>
            <a:endParaRPr lang="en-US" sz="1150" dirty="0"/>
          </a:p>
        </p:txBody>
      </p:sp>
      <p:sp>
        <p:nvSpPr>
          <p:cNvPr id="15" name="Shape 13"/>
          <p:cNvSpPr/>
          <p:nvPr/>
        </p:nvSpPr>
        <p:spPr>
          <a:xfrm>
            <a:off x="6400800" y="2788920"/>
            <a:ext cx="2697480" cy="3063240"/>
          </a:xfrm>
          <a:prstGeom prst="roundRect">
            <a:avLst>
              <a:gd name="adj" fmla="val 3390"/>
            </a:avLst>
          </a:prstGeom>
          <a:solidFill>
            <a:srgbClr val="F7F9FA"/>
          </a:solidFill>
          <a:ln w="12700">
            <a:solidFill>
              <a:srgbClr val="E3E8EA"/>
            </a:solidFill>
            <a:prstDash val="solid"/>
          </a:ln>
        </p:spPr>
      </p:sp>
      <p:sp>
        <p:nvSpPr>
          <p:cNvPr id="16" name="Shape 14"/>
          <p:cNvSpPr/>
          <p:nvPr/>
        </p:nvSpPr>
        <p:spPr>
          <a:xfrm>
            <a:off x="6629400" y="3063240"/>
            <a:ext cx="548640" cy="548640"/>
          </a:xfrm>
          <a:prstGeom prst="ellipse">
            <a:avLst/>
          </a:prstGeom>
          <a:solidFill>
            <a:srgbClr val="065A82"/>
          </a:solidFill>
          <a:ln/>
        </p:spPr>
      </p:sp>
      <p:sp>
        <p:nvSpPr>
          <p:cNvPr id="17" name="Text 15"/>
          <p:cNvSpPr txBox="1"/>
          <p:nvPr/>
        </p:nvSpPr>
        <p:spPr>
          <a:xfrm>
            <a:off x="6629400" y="30632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6601968" y="3794760"/>
            <a:ext cx="2295144" cy="50292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Risk of Loss</a:t>
            </a:r>
            <a:endParaRPr lang="en-US" sz="1400" dirty="0"/>
          </a:p>
        </p:txBody>
      </p:sp>
      <p:sp>
        <p:nvSpPr>
          <p:cNvPr id="19" name="Text 17"/>
          <p:cNvSpPr txBox="1"/>
          <p:nvPr/>
        </p:nvSpPr>
        <p:spPr>
          <a:xfrm>
            <a:off x="6601968" y="4279392"/>
            <a:ext cx="2295144" cy="141732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Poor predictions can lead to significant financial losses for investors.</a:t>
            </a:r>
            <a:endParaRPr lang="en-US" sz="1150" dirty="0"/>
          </a:p>
        </p:txBody>
      </p:sp>
      <p:sp>
        <p:nvSpPr>
          <p:cNvPr id="20" name="Shape 18"/>
          <p:cNvSpPr/>
          <p:nvPr/>
        </p:nvSpPr>
        <p:spPr>
          <a:xfrm>
            <a:off x="9326880" y="2788920"/>
            <a:ext cx="2697480" cy="3063240"/>
          </a:xfrm>
          <a:prstGeom prst="roundRect">
            <a:avLst>
              <a:gd name="adj" fmla="val 3390"/>
            </a:avLst>
          </a:prstGeom>
          <a:solidFill>
            <a:srgbClr val="F7F9FA"/>
          </a:solidFill>
          <a:ln w="12700">
            <a:solidFill>
              <a:srgbClr val="E3E8EA"/>
            </a:solidFill>
            <a:prstDash val="solid"/>
          </a:ln>
        </p:spPr>
      </p:sp>
      <p:sp>
        <p:nvSpPr>
          <p:cNvPr id="21" name="Shape 19"/>
          <p:cNvSpPr/>
          <p:nvPr/>
        </p:nvSpPr>
        <p:spPr>
          <a:xfrm>
            <a:off x="9555480" y="3063240"/>
            <a:ext cx="548640" cy="548640"/>
          </a:xfrm>
          <a:prstGeom prst="ellipse">
            <a:avLst/>
          </a:prstGeom>
          <a:solidFill>
            <a:srgbClr val="1C7293"/>
          </a:solidFill>
          <a:ln/>
        </p:spPr>
      </p:sp>
      <p:sp>
        <p:nvSpPr>
          <p:cNvPr id="22" name="Text 20"/>
          <p:cNvSpPr txBox="1"/>
          <p:nvPr/>
        </p:nvSpPr>
        <p:spPr>
          <a:xfrm>
            <a:off x="9555480" y="30632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9528048" y="3794760"/>
            <a:ext cx="2295144" cy="50292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Many Variables</a:t>
            </a:r>
            <a:endParaRPr lang="en-US" sz="1400" dirty="0"/>
          </a:p>
        </p:txBody>
      </p:sp>
      <p:sp>
        <p:nvSpPr>
          <p:cNvPr id="24" name="Text 22"/>
          <p:cNvSpPr txBox="1"/>
          <p:nvPr/>
        </p:nvSpPr>
        <p:spPr>
          <a:xfrm>
            <a:off x="9528048" y="4279392"/>
            <a:ext cx="2295144" cy="141732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Price depends on volume, sentiment, macro factors &amp; company news.</a:t>
            </a:r>
            <a:endParaRPr lang="en-US" sz="1150" dirty="0"/>
          </a:p>
        </p:txBody>
      </p:sp>
      <p:sp>
        <p:nvSpPr>
          <p:cNvPr id="25" name="Text 2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640080" y="1737360"/>
            <a:ext cx="5212080" cy="1188720"/>
          </a:xfrm>
          <a:prstGeom prst="roundRect">
            <a:avLst>
              <a:gd name="adj" fmla="val 7692"/>
            </a:avLst>
          </a:prstGeom>
          <a:solidFill>
            <a:srgbClr val="1A2050"/>
          </a:solidFill>
          <a:ln w="9525">
            <a:solidFill>
              <a:srgbClr val="1C7293"/>
            </a:solidFill>
            <a:prstDash val="solid"/>
          </a:ln>
        </p:spPr>
      </p:sp>
      <p:sp>
        <p:nvSpPr>
          <p:cNvPr id="5" name="Shape 3"/>
          <p:cNvSpPr/>
          <p:nvPr/>
        </p:nvSpPr>
        <p:spPr>
          <a:xfrm>
            <a:off x="822960" y="1920240"/>
            <a:ext cx="502920" cy="502920"/>
          </a:xfrm>
          <a:prstGeom prst="ellipse">
            <a:avLst/>
          </a:prstGeom>
          <a:solidFill>
            <a:srgbClr val="F2A541"/>
          </a:solidFill>
          <a:ln/>
        </p:spPr>
      </p:sp>
      <p:sp>
        <p:nvSpPr>
          <p:cNvPr id="6" name="Text 4"/>
          <p:cNvSpPr txBox="1"/>
          <p:nvPr/>
        </p:nvSpPr>
        <p:spPr>
          <a:xfrm>
            <a:off x="822960" y="192024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08760" y="184708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Collect and pre-process historical stock market data (OHLC + Volume).</a:t>
            </a:r>
            <a:endParaRPr lang="en-US" sz="1250" dirty="0"/>
          </a:p>
        </p:txBody>
      </p:sp>
      <p:sp>
        <p:nvSpPr>
          <p:cNvPr id="8" name="Shape 6"/>
          <p:cNvSpPr/>
          <p:nvPr/>
        </p:nvSpPr>
        <p:spPr>
          <a:xfrm>
            <a:off x="6309360" y="1737360"/>
            <a:ext cx="5212080" cy="1188720"/>
          </a:xfrm>
          <a:prstGeom prst="roundRect">
            <a:avLst>
              <a:gd name="adj" fmla="val 7692"/>
            </a:avLst>
          </a:prstGeom>
          <a:solidFill>
            <a:srgbClr val="1A2050"/>
          </a:solidFill>
          <a:ln w="9525">
            <a:solidFill>
              <a:srgbClr val="1C7293"/>
            </a:solidFill>
            <a:prstDash val="solid"/>
          </a:ln>
        </p:spPr>
      </p:sp>
      <p:sp>
        <p:nvSpPr>
          <p:cNvPr id="9" name="Shape 7"/>
          <p:cNvSpPr/>
          <p:nvPr/>
        </p:nvSpPr>
        <p:spPr>
          <a:xfrm>
            <a:off x="6492240" y="1920240"/>
            <a:ext cx="502920" cy="502920"/>
          </a:xfrm>
          <a:prstGeom prst="ellipse">
            <a:avLst/>
          </a:prstGeom>
          <a:solidFill>
            <a:srgbClr val="F2A541"/>
          </a:solidFill>
          <a:ln/>
        </p:spPr>
      </p:sp>
      <p:sp>
        <p:nvSpPr>
          <p:cNvPr id="10" name="Text 8"/>
          <p:cNvSpPr txBox="1"/>
          <p:nvPr/>
        </p:nvSpPr>
        <p:spPr>
          <a:xfrm>
            <a:off x="6492240" y="192024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7178040" y="184708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Perform exploratory data analysis to identify trends, seasonality and patterns.</a:t>
            </a:r>
            <a:endParaRPr lang="en-US" sz="1250" dirty="0"/>
          </a:p>
        </p:txBody>
      </p:sp>
      <p:sp>
        <p:nvSpPr>
          <p:cNvPr id="12" name="Shape 10"/>
          <p:cNvSpPr/>
          <p:nvPr/>
        </p:nvSpPr>
        <p:spPr>
          <a:xfrm>
            <a:off x="640080" y="3154680"/>
            <a:ext cx="5212080" cy="1188720"/>
          </a:xfrm>
          <a:prstGeom prst="roundRect">
            <a:avLst>
              <a:gd name="adj" fmla="val 7692"/>
            </a:avLst>
          </a:prstGeom>
          <a:solidFill>
            <a:srgbClr val="1A2050"/>
          </a:solidFill>
          <a:ln w="9525">
            <a:solidFill>
              <a:srgbClr val="1C7293"/>
            </a:solidFill>
            <a:prstDash val="solid"/>
          </a:ln>
        </p:spPr>
      </p:sp>
      <p:sp>
        <p:nvSpPr>
          <p:cNvPr id="13" name="Shape 11"/>
          <p:cNvSpPr/>
          <p:nvPr/>
        </p:nvSpPr>
        <p:spPr>
          <a:xfrm>
            <a:off x="822960" y="3337560"/>
            <a:ext cx="502920" cy="502920"/>
          </a:xfrm>
          <a:prstGeom prst="ellipse">
            <a:avLst/>
          </a:prstGeom>
          <a:solidFill>
            <a:srgbClr val="F2A541"/>
          </a:solidFill>
          <a:ln/>
        </p:spPr>
      </p:sp>
      <p:sp>
        <p:nvSpPr>
          <p:cNvPr id="14" name="Text 12"/>
          <p:cNvSpPr txBox="1"/>
          <p:nvPr/>
        </p:nvSpPr>
        <p:spPr>
          <a:xfrm>
            <a:off x="822960" y="333756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508760" y="326440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Build and train ML / deep-learning models (e.g. LSTM, Linear Regression) to forecast prices.</a:t>
            </a:r>
            <a:endParaRPr lang="en-US" sz="1250" dirty="0"/>
          </a:p>
        </p:txBody>
      </p:sp>
      <p:sp>
        <p:nvSpPr>
          <p:cNvPr id="16" name="Shape 14"/>
          <p:cNvSpPr/>
          <p:nvPr/>
        </p:nvSpPr>
        <p:spPr>
          <a:xfrm>
            <a:off x="6309360" y="3154680"/>
            <a:ext cx="5212080" cy="1188720"/>
          </a:xfrm>
          <a:prstGeom prst="roundRect">
            <a:avLst>
              <a:gd name="adj" fmla="val 7692"/>
            </a:avLst>
          </a:prstGeom>
          <a:solidFill>
            <a:srgbClr val="1A2050"/>
          </a:solidFill>
          <a:ln w="9525">
            <a:solidFill>
              <a:srgbClr val="1C7293"/>
            </a:solidFill>
            <a:prstDash val="solid"/>
          </a:ln>
        </p:spPr>
      </p:sp>
      <p:sp>
        <p:nvSpPr>
          <p:cNvPr id="17" name="Shape 15"/>
          <p:cNvSpPr/>
          <p:nvPr/>
        </p:nvSpPr>
        <p:spPr>
          <a:xfrm>
            <a:off x="6492240" y="3337560"/>
            <a:ext cx="502920" cy="502920"/>
          </a:xfrm>
          <a:prstGeom prst="ellipse">
            <a:avLst/>
          </a:prstGeom>
          <a:solidFill>
            <a:srgbClr val="F2A541"/>
          </a:solidFill>
          <a:ln/>
        </p:spPr>
      </p:sp>
      <p:sp>
        <p:nvSpPr>
          <p:cNvPr id="18" name="Text 16"/>
          <p:cNvSpPr txBox="1"/>
          <p:nvPr/>
        </p:nvSpPr>
        <p:spPr>
          <a:xfrm>
            <a:off x="6492240" y="333756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7178040" y="326440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Evaluate model performance using standard error metrics (RMSE, MAE, MAPE).</a:t>
            </a:r>
            <a:endParaRPr lang="en-US" sz="1250" dirty="0"/>
          </a:p>
        </p:txBody>
      </p:sp>
      <p:sp>
        <p:nvSpPr>
          <p:cNvPr id="20" name="Shape 18"/>
          <p:cNvSpPr/>
          <p:nvPr/>
        </p:nvSpPr>
        <p:spPr>
          <a:xfrm>
            <a:off x="640080" y="4572000"/>
            <a:ext cx="5212080" cy="1188720"/>
          </a:xfrm>
          <a:prstGeom prst="roundRect">
            <a:avLst>
              <a:gd name="adj" fmla="val 7692"/>
            </a:avLst>
          </a:prstGeom>
          <a:solidFill>
            <a:srgbClr val="1A2050"/>
          </a:solidFill>
          <a:ln w="9525">
            <a:solidFill>
              <a:srgbClr val="1C7293"/>
            </a:solidFill>
            <a:prstDash val="solid"/>
          </a:ln>
        </p:spPr>
      </p:sp>
      <p:sp>
        <p:nvSpPr>
          <p:cNvPr id="21" name="Shape 19"/>
          <p:cNvSpPr/>
          <p:nvPr/>
        </p:nvSpPr>
        <p:spPr>
          <a:xfrm>
            <a:off x="822960" y="4754880"/>
            <a:ext cx="502920" cy="502920"/>
          </a:xfrm>
          <a:prstGeom prst="ellipse">
            <a:avLst/>
          </a:prstGeom>
          <a:solidFill>
            <a:srgbClr val="F2A541"/>
          </a:solidFill>
          <a:ln/>
        </p:spPr>
      </p:sp>
      <p:sp>
        <p:nvSpPr>
          <p:cNvPr id="22" name="Text 20"/>
          <p:cNvSpPr txBox="1"/>
          <p:nvPr/>
        </p:nvSpPr>
        <p:spPr>
          <a:xfrm>
            <a:off x="822960" y="475488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1508760" y="468172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Visualize predicted vs. actual prices to assess model reliability.</a:t>
            </a:r>
            <a:endParaRPr lang="en-US" sz="1250" dirty="0"/>
          </a:p>
        </p:txBody>
      </p:sp>
      <p:sp>
        <p:nvSpPr>
          <p:cNvPr id="24" name="Shape 22"/>
          <p:cNvSpPr/>
          <p:nvPr/>
        </p:nvSpPr>
        <p:spPr>
          <a:xfrm>
            <a:off x="6309360" y="4572000"/>
            <a:ext cx="5212080" cy="1188720"/>
          </a:xfrm>
          <a:prstGeom prst="roundRect">
            <a:avLst>
              <a:gd name="adj" fmla="val 7692"/>
            </a:avLst>
          </a:prstGeom>
          <a:solidFill>
            <a:srgbClr val="1A2050"/>
          </a:solidFill>
          <a:ln w="9525">
            <a:solidFill>
              <a:srgbClr val="1C7293"/>
            </a:solidFill>
            <a:prstDash val="solid"/>
          </a:ln>
        </p:spPr>
      </p:sp>
      <p:sp>
        <p:nvSpPr>
          <p:cNvPr id="25" name="Shape 23"/>
          <p:cNvSpPr/>
          <p:nvPr/>
        </p:nvSpPr>
        <p:spPr>
          <a:xfrm>
            <a:off x="6492240" y="4754880"/>
            <a:ext cx="502920" cy="502920"/>
          </a:xfrm>
          <a:prstGeom prst="ellipse">
            <a:avLst/>
          </a:prstGeom>
          <a:solidFill>
            <a:srgbClr val="F2A541"/>
          </a:solidFill>
          <a:ln/>
        </p:spPr>
      </p:sp>
      <p:sp>
        <p:nvSpPr>
          <p:cNvPr id="26" name="Text 24"/>
          <p:cNvSpPr txBox="1"/>
          <p:nvPr/>
        </p:nvSpPr>
        <p:spPr>
          <a:xfrm>
            <a:off x="6492240" y="4754880"/>
            <a:ext cx="502920" cy="502920"/>
          </a:xfrm>
          <a:prstGeom prst="rect">
            <a:avLst/>
          </a:prstGeom>
          <a:noFill/>
          <a:ln/>
        </p:spPr>
        <p:txBody>
          <a:bodyPr wrap="square" rtlCol="0" anchor="ctr"/>
          <a:lstStyle/>
          <a:p>
            <a:pPr algn="ctr" indent="0" marL="0">
              <a:buNone/>
            </a:pPr>
            <a:r>
              <a:rPr lang="en-US" sz="1800" b="1" dirty="0">
                <a:solidFill>
                  <a:srgbClr val="21295C"/>
                </a:solidFill>
                <a:latin typeface="Calibri" pitchFamily="34" charset="0"/>
                <a:ea typeface="Calibri" pitchFamily="34" charset="-122"/>
                <a:cs typeface="Calibri" pitchFamily="34" charset="-120"/>
              </a:rPr>
              <a:t>6</a:t>
            </a:r>
            <a:endParaRPr lang="en-US" sz="1800" dirty="0"/>
          </a:p>
        </p:txBody>
      </p:sp>
      <p:sp>
        <p:nvSpPr>
          <p:cNvPr id="27" name="Text 25"/>
          <p:cNvSpPr txBox="1"/>
          <p:nvPr/>
        </p:nvSpPr>
        <p:spPr>
          <a:xfrm>
            <a:off x="7178040" y="4681728"/>
            <a:ext cx="4160520" cy="9601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Provide insights that can support smarter, data-backed investment decisions.</a:t>
            </a:r>
            <a:endParaRPr lang="en-US" sz="1250" dirty="0"/>
          </a:p>
        </p:txBody>
      </p:sp>
      <p:sp>
        <p:nvSpPr>
          <p:cNvPr id="28" name="Text 2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LITERATURE REVIEW</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Existing Approaches to Price Forecasting</a:t>
            </a:r>
            <a:endParaRPr lang="en-US" sz="3000" dirty="0"/>
          </a:p>
        </p:txBody>
      </p:sp>
      <p:sp>
        <p:nvSpPr>
          <p:cNvPr id="4" name="Shape 2"/>
          <p:cNvSpPr/>
          <p:nvPr/>
        </p:nvSpPr>
        <p:spPr>
          <a:xfrm>
            <a:off x="548640" y="1691640"/>
            <a:ext cx="11064240" cy="457200"/>
          </a:xfrm>
          <a:prstGeom prst="rect">
            <a:avLst/>
          </a:prstGeom>
          <a:solidFill>
            <a:srgbClr val="065A82"/>
          </a:solidFill>
          <a:ln/>
        </p:spPr>
      </p:sp>
      <p:sp>
        <p:nvSpPr>
          <p:cNvPr id="5" name="Text 3"/>
          <p:cNvSpPr txBox="1"/>
          <p:nvPr/>
        </p:nvSpPr>
        <p:spPr>
          <a:xfrm>
            <a:off x="685800" y="1691640"/>
            <a:ext cx="2743200" cy="457200"/>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APPROACH</a:t>
            </a:r>
            <a:endParaRPr lang="en-US" sz="1150" dirty="0"/>
          </a:p>
        </p:txBody>
      </p:sp>
      <p:sp>
        <p:nvSpPr>
          <p:cNvPr id="6" name="Text 4"/>
          <p:cNvSpPr txBox="1"/>
          <p:nvPr/>
        </p:nvSpPr>
        <p:spPr>
          <a:xfrm>
            <a:off x="3566160" y="1691640"/>
            <a:ext cx="5029200" cy="457200"/>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7" name="Text 5"/>
          <p:cNvSpPr txBox="1"/>
          <p:nvPr/>
        </p:nvSpPr>
        <p:spPr>
          <a:xfrm>
            <a:off x="8778240" y="1691640"/>
            <a:ext cx="2743200" cy="457200"/>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LIMITATION</a:t>
            </a:r>
            <a:endParaRPr lang="en-US" sz="1150" dirty="0"/>
          </a:p>
        </p:txBody>
      </p:sp>
      <p:sp>
        <p:nvSpPr>
          <p:cNvPr id="8" name="Shape 6"/>
          <p:cNvSpPr/>
          <p:nvPr/>
        </p:nvSpPr>
        <p:spPr>
          <a:xfrm>
            <a:off x="548640" y="2148840"/>
            <a:ext cx="11064240" cy="1051560"/>
          </a:xfrm>
          <a:prstGeom prst="rect">
            <a:avLst/>
          </a:prstGeom>
          <a:solidFill>
            <a:srgbClr val="F4F8FA"/>
          </a:solidFill>
          <a:ln w="6350">
            <a:solidFill>
              <a:srgbClr val="E3E8EA"/>
            </a:solidFill>
            <a:prstDash val="solid"/>
          </a:ln>
        </p:spPr>
      </p:sp>
      <p:sp>
        <p:nvSpPr>
          <p:cNvPr id="9" name="Text 7"/>
          <p:cNvSpPr txBox="1"/>
          <p:nvPr/>
        </p:nvSpPr>
        <p:spPr>
          <a:xfrm>
            <a:off x="685800" y="2148840"/>
            <a:ext cx="2743200" cy="1051560"/>
          </a:xfrm>
          <a:prstGeom prst="rect">
            <a:avLst/>
          </a:prstGeom>
          <a:noFill/>
          <a:ln/>
        </p:spPr>
        <p:txBody>
          <a:bodyPr wrap="square"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Fundamental Analysis</a:t>
            </a:r>
            <a:endParaRPr lang="en-US" sz="1250" dirty="0"/>
          </a:p>
        </p:txBody>
      </p:sp>
      <p:sp>
        <p:nvSpPr>
          <p:cNvPr id="10" name="Text 8"/>
          <p:cNvSpPr txBox="1"/>
          <p:nvPr/>
        </p:nvSpPr>
        <p:spPr>
          <a:xfrm>
            <a:off x="3566160" y="2148840"/>
            <a:ext cx="5029200" cy="1051560"/>
          </a:xfrm>
          <a:prstGeom prst="rect">
            <a:avLst/>
          </a:prstGeom>
          <a:noFill/>
          <a:ln/>
        </p:spPr>
        <p:txBody>
          <a:bodyPr wrap="square" rtlCol="0" anchor="ctr"/>
          <a:lstStyle/>
          <a:p>
            <a:pPr indent="0" marL="0">
              <a:buNone/>
            </a:pPr>
            <a:r>
              <a:rPr lang="en-US" sz="1150" dirty="0">
                <a:solidFill>
                  <a:srgbClr val="1B1F2A"/>
                </a:solidFill>
                <a:latin typeface="Calibri" pitchFamily="34" charset="0"/>
                <a:ea typeface="Calibri" pitchFamily="34" charset="-122"/>
                <a:cs typeface="Calibri" pitchFamily="34" charset="-120"/>
              </a:rPr>
              <a:t>Evaluates a company's financial health, earnings, and industry position.</a:t>
            </a:r>
            <a:endParaRPr lang="en-US" sz="1150" dirty="0"/>
          </a:p>
        </p:txBody>
      </p:sp>
      <p:sp>
        <p:nvSpPr>
          <p:cNvPr id="11" name="Text 9"/>
          <p:cNvSpPr txBox="1"/>
          <p:nvPr/>
        </p:nvSpPr>
        <p:spPr>
          <a:xfrm>
            <a:off x="8778240" y="2148840"/>
            <a:ext cx="2743200" cy="1051560"/>
          </a:xfrm>
          <a:prstGeom prst="rect">
            <a:avLst/>
          </a:prstGeom>
          <a:noFill/>
          <a:ln/>
        </p:spPr>
        <p:txBody>
          <a:bodyPr wrap="square"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Long-term, but slow to react to sudden change</a:t>
            </a:r>
            <a:endParaRPr lang="en-US" sz="1100" dirty="0"/>
          </a:p>
        </p:txBody>
      </p:sp>
      <p:sp>
        <p:nvSpPr>
          <p:cNvPr id="12" name="Shape 10"/>
          <p:cNvSpPr/>
          <p:nvPr/>
        </p:nvSpPr>
        <p:spPr>
          <a:xfrm>
            <a:off x="548640" y="3200400"/>
            <a:ext cx="11064240" cy="1051560"/>
          </a:xfrm>
          <a:prstGeom prst="rect">
            <a:avLst/>
          </a:prstGeom>
          <a:solidFill>
            <a:srgbClr val="FFFFFF"/>
          </a:solidFill>
          <a:ln w="6350">
            <a:solidFill>
              <a:srgbClr val="E3E8EA"/>
            </a:solidFill>
            <a:prstDash val="solid"/>
          </a:ln>
        </p:spPr>
      </p:sp>
      <p:sp>
        <p:nvSpPr>
          <p:cNvPr id="13" name="Text 11"/>
          <p:cNvSpPr txBox="1"/>
          <p:nvPr/>
        </p:nvSpPr>
        <p:spPr>
          <a:xfrm>
            <a:off x="685800" y="3200400"/>
            <a:ext cx="2743200" cy="1051560"/>
          </a:xfrm>
          <a:prstGeom prst="rect">
            <a:avLst/>
          </a:prstGeom>
          <a:noFill/>
          <a:ln/>
        </p:spPr>
        <p:txBody>
          <a:bodyPr wrap="square"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Technical Analysis</a:t>
            </a:r>
            <a:endParaRPr lang="en-US" sz="1250" dirty="0"/>
          </a:p>
        </p:txBody>
      </p:sp>
      <p:sp>
        <p:nvSpPr>
          <p:cNvPr id="14" name="Text 12"/>
          <p:cNvSpPr txBox="1"/>
          <p:nvPr/>
        </p:nvSpPr>
        <p:spPr>
          <a:xfrm>
            <a:off x="3566160" y="3200400"/>
            <a:ext cx="5029200" cy="1051560"/>
          </a:xfrm>
          <a:prstGeom prst="rect">
            <a:avLst/>
          </a:prstGeom>
          <a:noFill/>
          <a:ln/>
        </p:spPr>
        <p:txBody>
          <a:bodyPr wrap="square" rtlCol="0" anchor="ctr"/>
          <a:lstStyle/>
          <a:p>
            <a:pPr indent="0" marL="0">
              <a:buNone/>
            </a:pPr>
            <a:r>
              <a:rPr lang="en-US" sz="1150" dirty="0">
                <a:solidFill>
                  <a:srgbClr val="1B1F2A"/>
                </a:solidFill>
                <a:latin typeface="Calibri" pitchFamily="34" charset="0"/>
                <a:ea typeface="Calibri" pitchFamily="34" charset="-122"/>
                <a:cs typeface="Calibri" pitchFamily="34" charset="-120"/>
              </a:rPr>
              <a:t>Uses historical price/volume charts and indicators (RSI, MACD, moving averages).</a:t>
            </a:r>
            <a:endParaRPr lang="en-US" sz="1150" dirty="0"/>
          </a:p>
        </p:txBody>
      </p:sp>
      <p:sp>
        <p:nvSpPr>
          <p:cNvPr id="15" name="Text 13"/>
          <p:cNvSpPr txBox="1"/>
          <p:nvPr/>
        </p:nvSpPr>
        <p:spPr>
          <a:xfrm>
            <a:off x="8778240" y="3200400"/>
            <a:ext cx="2743200" cy="1051560"/>
          </a:xfrm>
          <a:prstGeom prst="rect">
            <a:avLst/>
          </a:prstGeom>
          <a:noFill/>
          <a:ln/>
        </p:spPr>
        <p:txBody>
          <a:bodyPr wrap="square"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Depends heavily on analyst interpretation</a:t>
            </a:r>
            <a:endParaRPr lang="en-US" sz="1100" dirty="0"/>
          </a:p>
        </p:txBody>
      </p:sp>
      <p:sp>
        <p:nvSpPr>
          <p:cNvPr id="16" name="Shape 14"/>
          <p:cNvSpPr/>
          <p:nvPr/>
        </p:nvSpPr>
        <p:spPr>
          <a:xfrm>
            <a:off x="548640" y="4251960"/>
            <a:ext cx="11064240" cy="1051560"/>
          </a:xfrm>
          <a:prstGeom prst="rect">
            <a:avLst/>
          </a:prstGeom>
          <a:solidFill>
            <a:srgbClr val="F4F8FA"/>
          </a:solidFill>
          <a:ln w="6350">
            <a:solidFill>
              <a:srgbClr val="E3E8EA"/>
            </a:solidFill>
            <a:prstDash val="solid"/>
          </a:ln>
        </p:spPr>
      </p:sp>
      <p:sp>
        <p:nvSpPr>
          <p:cNvPr id="17" name="Text 15"/>
          <p:cNvSpPr txBox="1"/>
          <p:nvPr/>
        </p:nvSpPr>
        <p:spPr>
          <a:xfrm>
            <a:off x="685800" y="4251960"/>
            <a:ext cx="2743200" cy="1051560"/>
          </a:xfrm>
          <a:prstGeom prst="rect">
            <a:avLst/>
          </a:prstGeom>
          <a:noFill/>
          <a:ln/>
        </p:spPr>
        <p:txBody>
          <a:bodyPr wrap="square"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Statistical Models (ARIMA)</a:t>
            </a:r>
            <a:endParaRPr lang="en-US" sz="1250" dirty="0"/>
          </a:p>
        </p:txBody>
      </p:sp>
      <p:sp>
        <p:nvSpPr>
          <p:cNvPr id="18" name="Text 16"/>
          <p:cNvSpPr txBox="1"/>
          <p:nvPr/>
        </p:nvSpPr>
        <p:spPr>
          <a:xfrm>
            <a:off x="3566160" y="4251960"/>
            <a:ext cx="5029200" cy="1051560"/>
          </a:xfrm>
          <a:prstGeom prst="rect">
            <a:avLst/>
          </a:prstGeom>
          <a:noFill/>
          <a:ln/>
        </p:spPr>
        <p:txBody>
          <a:bodyPr wrap="square" rtlCol="0" anchor="ctr"/>
          <a:lstStyle/>
          <a:p>
            <a:pPr indent="0" marL="0">
              <a:buNone/>
            </a:pPr>
            <a:r>
              <a:rPr lang="en-US" sz="1150" dirty="0">
                <a:solidFill>
                  <a:srgbClr val="1B1F2A"/>
                </a:solidFill>
                <a:latin typeface="Calibri" pitchFamily="34" charset="0"/>
                <a:ea typeface="Calibri" pitchFamily="34" charset="-122"/>
                <a:cs typeface="Calibri" pitchFamily="34" charset="-120"/>
              </a:rPr>
              <a:t>Classical time-series models that assume linear relationships in data.</a:t>
            </a:r>
            <a:endParaRPr lang="en-US" sz="1150" dirty="0"/>
          </a:p>
        </p:txBody>
      </p:sp>
      <p:sp>
        <p:nvSpPr>
          <p:cNvPr id="19" name="Text 17"/>
          <p:cNvSpPr txBox="1"/>
          <p:nvPr/>
        </p:nvSpPr>
        <p:spPr>
          <a:xfrm>
            <a:off x="8778240" y="4251960"/>
            <a:ext cx="2743200" cy="1051560"/>
          </a:xfrm>
          <a:prstGeom prst="rect">
            <a:avLst/>
          </a:prstGeom>
          <a:noFill/>
          <a:ln/>
        </p:spPr>
        <p:txBody>
          <a:bodyPr wrap="square"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Struggles with non-linear market behaviour</a:t>
            </a:r>
            <a:endParaRPr lang="en-US" sz="1100" dirty="0"/>
          </a:p>
        </p:txBody>
      </p:sp>
      <p:sp>
        <p:nvSpPr>
          <p:cNvPr id="20" name="Shape 18"/>
          <p:cNvSpPr/>
          <p:nvPr/>
        </p:nvSpPr>
        <p:spPr>
          <a:xfrm>
            <a:off x="548640" y="5303520"/>
            <a:ext cx="11064240" cy="1051560"/>
          </a:xfrm>
          <a:prstGeom prst="rect">
            <a:avLst/>
          </a:prstGeom>
          <a:solidFill>
            <a:srgbClr val="FFFFFF"/>
          </a:solidFill>
          <a:ln w="6350">
            <a:solidFill>
              <a:srgbClr val="E3E8EA"/>
            </a:solidFill>
            <a:prstDash val="solid"/>
          </a:ln>
        </p:spPr>
      </p:sp>
      <p:sp>
        <p:nvSpPr>
          <p:cNvPr id="21" name="Text 19"/>
          <p:cNvSpPr txBox="1"/>
          <p:nvPr/>
        </p:nvSpPr>
        <p:spPr>
          <a:xfrm>
            <a:off x="685800" y="5303520"/>
            <a:ext cx="2743200" cy="105156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Machine Learning (Our Focus)</a:t>
            </a:r>
            <a:endParaRPr lang="en-US" sz="1250" dirty="0"/>
          </a:p>
        </p:txBody>
      </p:sp>
      <p:sp>
        <p:nvSpPr>
          <p:cNvPr id="22" name="Text 20"/>
          <p:cNvSpPr txBox="1"/>
          <p:nvPr/>
        </p:nvSpPr>
        <p:spPr>
          <a:xfrm>
            <a:off x="3566160" y="5303520"/>
            <a:ext cx="5029200" cy="1051560"/>
          </a:xfrm>
          <a:prstGeom prst="rect">
            <a:avLst/>
          </a:prstGeom>
          <a:noFill/>
          <a:ln/>
        </p:spPr>
        <p:txBody>
          <a:bodyPr wrap="square" rtlCol="0" anchor="ctr"/>
          <a:lstStyle/>
          <a:p>
            <a:pPr indent="0" marL="0">
              <a:buNone/>
            </a:pPr>
            <a:r>
              <a:rPr lang="en-US" sz="1150" dirty="0">
                <a:solidFill>
                  <a:srgbClr val="1B1F2A"/>
                </a:solidFill>
                <a:latin typeface="Calibri" pitchFamily="34" charset="0"/>
                <a:ea typeface="Calibri" pitchFamily="34" charset="-122"/>
                <a:cs typeface="Calibri" pitchFamily="34" charset="-120"/>
              </a:rPr>
              <a:t>Learns non-linear patterns directly from data using models like LSTM &amp; Regression.</a:t>
            </a:r>
            <a:endParaRPr lang="en-US" sz="1150" dirty="0"/>
          </a:p>
        </p:txBody>
      </p:sp>
      <p:sp>
        <p:nvSpPr>
          <p:cNvPr id="23" name="Text 21"/>
          <p:cNvSpPr txBox="1"/>
          <p:nvPr/>
        </p:nvSpPr>
        <p:spPr>
          <a:xfrm>
            <a:off x="8778240" y="5303520"/>
            <a:ext cx="2743200" cy="1051560"/>
          </a:xfrm>
          <a:prstGeom prst="rect">
            <a:avLst/>
          </a:prstGeom>
          <a:noFill/>
          <a:ln/>
        </p:spPr>
        <p:txBody>
          <a:bodyPr wrap="square"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Requires quality data &amp; careful tuning</a:t>
            </a:r>
            <a:endParaRPr lang="en-US" sz="1100" dirty="0"/>
          </a:p>
        </p:txBody>
      </p:sp>
      <p:sp>
        <p:nvSpPr>
          <p:cNvPr id="24" name="Text 2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DATASET</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Dataset Description</a:t>
            </a:r>
            <a:endParaRPr lang="en-US" sz="3000" dirty="0"/>
          </a:p>
        </p:txBody>
      </p:sp>
      <p:sp>
        <p:nvSpPr>
          <p:cNvPr id="4" name="Text 2"/>
          <p:cNvSpPr txBox="1"/>
          <p:nvPr/>
        </p:nvSpPr>
        <p:spPr>
          <a:xfrm>
            <a:off x="548640" y="1554480"/>
            <a:ext cx="5486400" cy="1188720"/>
          </a:xfrm>
          <a:prstGeom prst="rect">
            <a:avLst/>
          </a:prstGeom>
          <a:noFill/>
          <a:ln/>
        </p:spPr>
        <p:txBody>
          <a:bodyPr wrap="square" rtlCol="0" anchor="ctr"/>
          <a:lstStyle/>
          <a:p>
            <a:pPr indent="0" marL="0">
              <a:lnSpc>
                <a:spcPct val="125000"/>
              </a:lnSpc>
              <a:buNone/>
            </a:pPr>
            <a:r>
              <a:rPr lang="en-US" sz="1450" dirty="0">
                <a:solidFill>
                  <a:srgbClr val="1B1F2A"/>
                </a:solidFill>
                <a:latin typeface="Calibri" pitchFamily="34" charset="0"/>
                <a:ea typeface="Calibri" pitchFamily="34" charset="-122"/>
                <a:cs typeface="Calibri" pitchFamily="34" charset="-120"/>
              </a:rPr>
              <a:t>Historical stock data is typically sourced from public financial APIs and contains daily Open–High–Low–Close (OHLC) prices along with traded volume over several years.</a:t>
            </a:r>
            <a:endParaRPr lang="en-US" sz="1450" dirty="0"/>
          </a:p>
        </p:txBody>
      </p:sp>
      <p:sp>
        <p:nvSpPr>
          <p:cNvPr id="5" name="Shape 3"/>
          <p:cNvSpPr/>
          <p:nvPr/>
        </p:nvSpPr>
        <p:spPr>
          <a:xfrm>
            <a:off x="548640" y="2788920"/>
            <a:ext cx="5577840" cy="566928"/>
          </a:xfrm>
          <a:prstGeom prst="roundRect">
            <a:avLst>
              <a:gd name="adj" fmla="val 9677"/>
            </a:avLst>
          </a:prstGeom>
          <a:solidFill>
            <a:srgbClr val="F4F8FA"/>
          </a:solidFill>
          <a:ln/>
        </p:spPr>
      </p:sp>
      <p:sp>
        <p:nvSpPr>
          <p:cNvPr id="6" name="Text 4"/>
          <p:cNvSpPr txBox="1"/>
          <p:nvPr/>
        </p:nvSpPr>
        <p:spPr>
          <a:xfrm>
            <a:off x="731520" y="2788920"/>
            <a:ext cx="1463040" cy="56692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Date</a:t>
            </a:r>
            <a:endParaRPr lang="en-US" sz="1250" dirty="0"/>
          </a:p>
        </p:txBody>
      </p:sp>
      <p:sp>
        <p:nvSpPr>
          <p:cNvPr id="7" name="Text 5"/>
          <p:cNvSpPr txBox="1"/>
          <p:nvPr/>
        </p:nvSpPr>
        <p:spPr>
          <a:xfrm>
            <a:off x="2194560" y="2788920"/>
            <a:ext cx="3794760" cy="566928"/>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Trading day timestamp</a:t>
            </a:r>
            <a:endParaRPr lang="en-US" sz="1150" dirty="0"/>
          </a:p>
        </p:txBody>
      </p:sp>
      <p:sp>
        <p:nvSpPr>
          <p:cNvPr id="8" name="Shape 6"/>
          <p:cNvSpPr/>
          <p:nvPr/>
        </p:nvSpPr>
        <p:spPr>
          <a:xfrm>
            <a:off x="548640" y="3447288"/>
            <a:ext cx="5577840" cy="566928"/>
          </a:xfrm>
          <a:prstGeom prst="roundRect">
            <a:avLst>
              <a:gd name="adj" fmla="val 9677"/>
            </a:avLst>
          </a:prstGeom>
          <a:solidFill>
            <a:srgbClr val="F4F8FA"/>
          </a:solidFill>
          <a:ln/>
        </p:spPr>
      </p:sp>
      <p:sp>
        <p:nvSpPr>
          <p:cNvPr id="9" name="Text 7"/>
          <p:cNvSpPr txBox="1"/>
          <p:nvPr/>
        </p:nvSpPr>
        <p:spPr>
          <a:xfrm>
            <a:off x="731520" y="3447288"/>
            <a:ext cx="1463040" cy="56692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Open</a:t>
            </a:r>
            <a:endParaRPr lang="en-US" sz="1250" dirty="0"/>
          </a:p>
        </p:txBody>
      </p:sp>
      <p:sp>
        <p:nvSpPr>
          <p:cNvPr id="10" name="Text 8"/>
          <p:cNvSpPr txBox="1"/>
          <p:nvPr/>
        </p:nvSpPr>
        <p:spPr>
          <a:xfrm>
            <a:off x="2194560" y="3447288"/>
            <a:ext cx="3794760" cy="566928"/>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Price at market open</a:t>
            </a:r>
            <a:endParaRPr lang="en-US" sz="1150" dirty="0"/>
          </a:p>
        </p:txBody>
      </p:sp>
      <p:sp>
        <p:nvSpPr>
          <p:cNvPr id="11" name="Shape 9"/>
          <p:cNvSpPr/>
          <p:nvPr/>
        </p:nvSpPr>
        <p:spPr>
          <a:xfrm>
            <a:off x="548640" y="4105656"/>
            <a:ext cx="5577840" cy="566928"/>
          </a:xfrm>
          <a:prstGeom prst="roundRect">
            <a:avLst>
              <a:gd name="adj" fmla="val 9677"/>
            </a:avLst>
          </a:prstGeom>
          <a:solidFill>
            <a:srgbClr val="F4F8FA"/>
          </a:solidFill>
          <a:ln/>
        </p:spPr>
      </p:sp>
      <p:sp>
        <p:nvSpPr>
          <p:cNvPr id="12" name="Text 10"/>
          <p:cNvSpPr txBox="1"/>
          <p:nvPr/>
        </p:nvSpPr>
        <p:spPr>
          <a:xfrm>
            <a:off x="731520" y="4105656"/>
            <a:ext cx="1463040" cy="56692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High / Low</a:t>
            </a:r>
            <a:endParaRPr lang="en-US" sz="1250" dirty="0"/>
          </a:p>
        </p:txBody>
      </p:sp>
      <p:sp>
        <p:nvSpPr>
          <p:cNvPr id="13" name="Text 11"/>
          <p:cNvSpPr txBox="1"/>
          <p:nvPr/>
        </p:nvSpPr>
        <p:spPr>
          <a:xfrm>
            <a:off x="2194560" y="4105656"/>
            <a:ext cx="3794760" cy="566928"/>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Day's price range</a:t>
            </a:r>
            <a:endParaRPr lang="en-US" sz="1150" dirty="0"/>
          </a:p>
        </p:txBody>
      </p:sp>
      <p:sp>
        <p:nvSpPr>
          <p:cNvPr id="14" name="Shape 12"/>
          <p:cNvSpPr/>
          <p:nvPr/>
        </p:nvSpPr>
        <p:spPr>
          <a:xfrm>
            <a:off x="548640" y="4764024"/>
            <a:ext cx="5577840" cy="566928"/>
          </a:xfrm>
          <a:prstGeom prst="roundRect">
            <a:avLst>
              <a:gd name="adj" fmla="val 9677"/>
            </a:avLst>
          </a:prstGeom>
          <a:solidFill>
            <a:srgbClr val="F4F8FA"/>
          </a:solidFill>
          <a:ln/>
        </p:spPr>
      </p:sp>
      <p:sp>
        <p:nvSpPr>
          <p:cNvPr id="15" name="Text 13"/>
          <p:cNvSpPr txBox="1"/>
          <p:nvPr/>
        </p:nvSpPr>
        <p:spPr>
          <a:xfrm>
            <a:off x="731520" y="4764024"/>
            <a:ext cx="1463040" cy="56692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Close</a:t>
            </a:r>
            <a:endParaRPr lang="en-US" sz="1250" dirty="0"/>
          </a:p>
        </p:txBody>
      </p:sp>
      <p:sp>
        <p:nvSpPr>
          <p:cNvPr id="16" name="Text 14"/>
          <p:cNvSpPr txBox="1"/>
          <p:nvPr/>
        </p:nvSpPr>
        <p:spPr>
          <a:xfrm>
            <a:off x="2194560" y="4764024"/>
            <a:ext cx="3794760" cy="566928"/>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Price at market close (target)</a:t>
            </a:r>
            <a:endParaRPr lang="en-US" sz="1150" dirty="0"/>
          </a:p>
        </p:txBody>
      </p:sp>
      <p:sp>
        <p:nvSpPr>
          <p:cNvPr id="17" name="Shape 15"/>
          <p:cNvSpPr/>
          <p:nvPr/>
        </p:nvSpPr>
        <p:spPr>
          <a:xfrm>
            <a:off x="548640" y="5422392"/>
            <a:ext cx="5577840" cy="566928"/>
          </a:xfrm>
          <a:prstGeom prst="roundRect">
            <a:avLst>
              <a:gd name="adj" fmla="val 9677"/>
            </a:avLst>
          </a:prstGeom>
          <a:solidFill>
            <a:srgbClr val="F4F8FA"/>
          </a:solidFill>
          <a:ln/>
        </p:spPr>
      </p:sp>
      <p:sp>
        <p:nvSpPr>
          <p:cNvPr id="18" name="Text 16"/>
          <p:cNvSpPr txBox="1"/>
          <p:nvPr/>
        </p:nvSpPr>
        <p:spPr>
          <a:xfrm>
            <a:off x="731520" y="5422392"/>
            <a:ext cx="1463040" cy="56692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Volume</a:t>
            </a:r>
            <a:endParaRPr lang="en-US" sz="1250" dirty="0"/>
          </a:p>
        </p:txBody>
      </p:sp>
      <p:sp>
        <p:nvSpPr>
          <p:cNvPr id="19" name="Text 17"/>
          <p:cNvSpPr txBox="1"/>
          <p:nvPr/>
        </p:nvSpPr>
        <p:spPr>
          <a:xfrm>
            <a:off x="2194560" y="5422392"/>
            <a:ext cx="3794760" cy="566928"/>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Number of shares traded</a:t>
            </a:r>
            <a:endParaRPr lang="en-US" sz="1150" dirty="0"/>
          </a:p>
        </p:txBody>
      </p:sp>
      <p:sp>
        <p:nvSpPr>
          <p:cNvPr id="20" name="Shape 18"/>
          <p:cNvSpPr/>
          <p:nvPr/>
        </p:nvSpPr>
        <p:spPr>
          <a:xfrm>
            <a:off x="6492240" y="1554480"/>
            <a:ext cx="5120640" cy="2103120"/>
          </a:xfrm>
          <a:prstGeom prst="roundRect">
            <a:avLst>
              <a:gd name="adj" fmla="val 4348"/>
            </a:avLst>
          </a:prstGeom>
          <a:solidFill>
            <a:srgbClr val="21295C"/>
          </a:solidFill>
          <a:ln/>
        </p:spPr>
      </p:sp>
      <p:sp>
        <p:nvSpPr>
          <p:cNvPr id="21" name="Text 19"/>
          <p:cNvSpPr txBox="1"/>
          <p:nvPr/>
        </p:nvSpPr>
        <p:spPr>
          <a:xfrm>
            <a:off x="6766560" y="1783080"/>
            <a:ext cx="4572000" cy="274320"/>
          </a:xfrm>
          <a:prstGeom prst="rect">
            <a:avLst/>
          </a:prstGeom>
          <a:noFill/>
          <a:ln/>
        </p:spPr>
        <p:txBody>
          <a:bodyPr wrap="square"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COMMON DATA SOURCES</a:t>
            </a:r>
            <a:endParaRPr lang="en-US" sz="1100" dirty="0"/>
          </a:p>
        </p:txBody>
      </p:sp>
      <p:sp>
        <p:nvSpPr>
          <p:cNvPr id="22" name="Text 20"/>
          <p:cNvSpPr txBox="1"/>
          <p:nvPr/>
        </p:nvSpPr>
        <p:spPr>
          <a:xfrm>
            <a:off x="6766560" y="2148840"/>
            <a:ext cx="45720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Yahoo Finance API</a:t>
            </a:r>
            <a:endParaRPr lang="en-US" sz="1300" dirty="0"/>
          </a:p>
        </p:txBody>
      </p:sp>
      <p:sp>
        <p:nvSpPr>
          <p:cNvPr id="23" name="Text 21"/>
          <p:cNvSpPr txBox="1"/>
          <p:nvPr/>
        </p:nvSpPr>
        <p:spPr>
          <a:xfrm>
            <a:off x="6766560" y="2606040"/>
            <a:ext cx="45720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NSE / BSE Historical Data</a:t>
            </a:r>
            <a:endParaRPr lang="en-US" sz="1300" dirty="0"/>
          </a:p>
        </p:txBody>
      </p:sp>
      <p:sp>
        <p:nvSpPr>
          <p:cNvPr id="24" name="Text 22"/>
          <p:cNvSpPr txBox="1"/>
          <p:nvPr/>
        </p:nvSpPr>
        <p:spPr>
          <a:xfrm>
            <a:off x="6766560" y="3063240"/>
            <a:ext cx="45720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Alpha Vantage / Kaggle Datasets</a:t>
            </a:r>
            <a:endParaRPr lang="en-US" sz="1300" dirty="0"/>
          </a:p>
        </p:txBody>
      </p:sp>
      <p:sp>
        <p:nvSpPr>
          <p:cNvPr id="25" name="Shape 23"/>
          <p:cNvSpPr/>
          <p:nvPr/>
        </p:nvSpPr>
        <p:spPr>
          <a:xfrm>
            <a:off x="6492240" y="3886200"/>
            <a:ext cx="2468880" cy="1417320"/>
          </a:xfrm>
          <a:prstGeom prst="roundRect">
            <a:avLst>
              <a:gd name="adj" fmla="val 6452"/>
            </a:avLst>
          </a:prstGeom>
          <a:solidFill>
            <a:srgbClr val="F4F8FA"/>
          </a:solidFill>
          <a:ln w="12700">
            <a:solidFill>
              <a:srgbClr val="E3E8EA"/>
            </a:solidFill>
            <a:prstDash val="solid"/>
          </a:ln>
        </p:spPr>
      </p:sp>
      <p:sp>
        <p:nvSpPr>
          <p:cNvPr id="26" name="Text 24"/>
          <p:cNvSpPr txBox="1"/>
          <p:nvPr/>
        </p:nvSpPr>
        <p:spPr>
          <a:xfrm>
            <a:off x="6492240" y="4023360"/>
            <a:ext cx="2468880" cy="640080"/>
          </a:xfrm>
          <a:prstGeom prst="rect">
            <a:avLst/>
          </a:prstGeom>
          <a:noFill/>
          <a:ln/>
        </p:spPr>
        <p:txBody>
          <a:bodyPr wrap="square"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5+ yrs</a:t>
            </a:r>
            <a:endParaRPr lang="en-US" sz="3000" dirty="0"/>
          </a:p>
        </p:txBody>
      </p:sp>
      <p:sp>
        <p:nvSpPr>
          <p:cNvPr id="27" name="Text 25"/>
          <p:cNvSpPr txBox="1"/>
          <p:nvPr/>
        </p:nvSpPr>
        <p:spPr>
          <a:xfrm>
            <a:off x="6492240" y="4663440"/>
            <a:ext cx="2468880" cy="457200"/>
          </a:xfrm>
          <a:prstGeom prst="rect">
            <a:avLst/>
          </a:prstGeom>
          <a:noFill/>
          <a:ln/>
        </p:spPr>
        <p:txBody>
          <a:bodyPr wrap="square"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Historical range</a:t>
            </a:r>
            <a:endParaRPr lang="en-US" sz="1150" dirty="0"/>
          </a:p>
        </p:txBody>
      </p:sp>
      <p:sp>
        <p:nvSpPr>
          <p:cNvPr id="28" name="Shape 26"/>
          <p:cNvSpPr/>
          <p:nvPr/>
        </p:nvSpPr>
        <p:spPr>
          <a:xfrm>
            <a:off x="9144000" y="3886200"/>
            <a:ext cx="2468880" cy="1417320"/>
          </a:xfrm>
          <a:prstGeom prst="roundRect">
            <a:avLst>
              <a:gd name="adj" fmla="val 6452"/>
            </a:avLst>
          </a:prstGeom>
          <a:solidFill>
            <a:srgbClr val="F4F8FA"/>
          </a:solidFill>
          <a:ln w="12700">
            <a:solidFill>
              <a:srgbClr val="E3E8EA"/>
            </a:solidFill>
            <a:prstDash val="solid"/>
          </a:ln>
        </p:spPr>
      </p:sp>
      <p:sp>
        <p:nvSpPr>
          <p:cNvPr id="29" name="Text 27"/>
          <p:cNvSpPr txBox="1"/>
          <p:nvPr/>
        </p:nvSpPr>
        <p:spPr>
          <a:xfrm>
            <a:off x="9144000" y="4023360"/>
            <a:ext cx="2468880" cy="640080"/>
          </a:xfrm>
          <a:prstGeom prst="rect">
            <a:avLst/>
          </a:prstGeom>
          <a:noFill/>
          <a:ln/>
        </p:spPr>
        <p:txBody>
          <a:bodyPr wrap="square"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70/30</a:t>
            </a:r>
            <a:endParaRPr lang="en-US" sz="3000" dirty="0"/>
          </a:p>
        </p:txBody>
      </p:sp>
      <p:sp>
        <p:nvSpPr>
          <p:cNvPr id="30" name="Text 28"/>
          <p:cNvSpPr txBox="1"/>
          <p:nvPr/>
        </p:nvSpPr>
        <p:spPr>
          <a:xfrm>
            <a:off x="9144000" y="4663440"/>
            <a:ext cx="2468880" cy="457200"/>
          </a:xfrm>
          <a:prstGeom prst="rect">
            <a:avLst/>
          </a:prstGeom>
          <a:noFill/>
          <a:ln/>
        </p:spPr>
        <p:txBody>
          <a:bodyPr wrap="square" rtlCol="0" anchor="ctr"/>
          <a:lstStyle/>
          <a:p>
            <a:pPr algn="ctr" indent="0" marL="0">
              <a:buNone/>
            </a:pPr>
            <a:r>
              <a:rPr lang="en-US" sz="1150" dirty="0">
                <a:solidFill>
                  <a:srgbClr val="5B6B79"/>
                </a:solidFill>
                <a:latin typeface="Calibri" pitchFamily="34" charset="0"/>
                <a:ea typeface="Calibri" pitchFamily="34" charset="-122"/>
                <a:cs typeface="Calibri" pitchFamily="34" charset="-120"/>
              </a:rPr>
              <a:t>Train / Test split</a:t>
            </a:r>
            <a:endParaRPr lang="en-US" sz="1150" dirty="0"/>
          </a:p>
        </p:txBody>
      </p:sp>
      <p:sp>
        <p:nvSpPr>
          <p:cNvPr id="31" name="Text 29"/>
          <p:cNvSpPr txBox="1"/>
          <p:nvPr/>
        </p:nvSpPr>
        <p:spPr>
          <a:xfrm>
            <a:off x="6492240" y="5486400"/>
            <a:ext cx="5120640" cy="731520"/>
          </a:xfrm>
          <a:prstGeom prst="rect">
            <a:avLst/>
          </a:prstGeom>
          <a:noFill/>
          <a:ln/>
        </p:spPr>
        <p:txBody>
          <a:bodyPr wrap="square" rtlCol="0" anchor="ctr"/>
          <a:lstStyle/>
          <a:p>
            <a:pPr indent="0" marL="0">
              <a:buNone/>
            </a:pPr>
            <a:r>
              <a:rPr lang="en-US" sz="1150" i="1" dirty="0">
                <a:solidFill>
                  <a:srgbClr val="5B6B79"/>
                </a:solidFill>
                <a:latin typeface="Calibri" pitchFamily="34" charset="0"/>
                <a:ea typeface="Calibri" pitchFamily="34" charset="-122"/>
                <a:cs typeface="Calibri" pitchFamily="34" charset="-120"/>
              </a:rPr>
              <a:t>Data is cleaned, checked for missing values, and normalized (MinMax scaling) before model training.</a:t>
            </a:r>
            <a:endParaRPr lang="en-US" sz="1150" dirty="0"/>
          </a:p>
        </p:txBody>
      </p:sp>
      <p:sp>
        <p:nvSpPr>
          <p:cNvPr id="32" name="Text 30"/>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Tools &amp; Technologies Used</a:t>
            </a:r>
            <a:endParaRPr lang="en-US" sz="3000" dirty="0"/>
          </a:p>
        </p:txBody>
      </p:sp>
      <p:sp>
        <p:nvSpPr>
          <p:cNvPr id="4" name="Shape 2"/>
          <p:cNvSpPr/>
          <p:nvPr/>
        </p:nvSpPr>
        <p:spPr>
          <a:xfrm>
            <a:off x="548640" y="1737360"/>
            <a:ext cx="3520440" cy="2103120"/>
          </a:xfrm>
          <a:prstGeom prst="roundRect">
            <a:avLst>
              <a:gd name="adj" fmla="val 4348"/>
            </a:avLst>
          </a:prstGeom>
          <a:solidFill>
            <a:srgbClr val="F7F9FA"/>
          </a:solidFill>
          <a:ln w="12700">
            <a:solidFill>
              <a:srgbClr val="E3E8EA"/>
            </a:solidFill>
            <a:prstDash val="solid"/>
          </a:ln>
        </p:spPr>
      </p:sp>
      <p:sp>
        <p:nvSpPr>
          <p:cNvPr id="5" name="Shape 3"/>
          <p:cNvSpPr/>
          <p:nvPr/>
        </p:nvSpPr>
        <p:spPr>
          <a:xfrm>
            <a:off x="822960" y="2011680"/>
            <a:ext cx="594360" cy="594360"/>
          </a:xfrm>
          <a:prstGeom prst="ellipse">
            <a:avLst/>
          </a:prstGeom>
          <a:solidFill>
            <a:srgbClr val="065A82"/>
          </a:solidFill>
          <a:ln/>
        </p:spPr>
      </p:sp>
      <p:sp>
        <p:nvSpPr>
          <p:cNvPr id="6" name="Text 4"/>
          <p:cNvSpPr txBox="1"/>
          <p:nvPr/>
        </p:nvSpPr>
        <p:spPr>
          <a:xfrm>
            <a:off x="822960" y="201168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777240" y="278892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Python</a:t>
            </a:r>
            <a:endParaRPr lang="en-US" sz="1500" dirty="0"/>
          </a:p>
        </p:txBody>
      </p:sp>
      <p:sp>
        <p:nvSpPr>
          <p:cNvPr id="8" name="Text 6"/>
          <p:cNvSpPr txBox="1"/>
          <p:nvPr/>
        </p:nvSpPr>
        <p:spPr>
          <a:xfrm>
            <a:off x="777240" y="315468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Core programming language</a:t>
            </a:r>
            <a:endParaRPr lang="en-US" sz="1150" dirty="0"/>
          </a:p>
        </p:txBody>
      </p:sp>
      <p:sp>
        <p:nvSpPr>
          <p:cNvPr id="9" name="Shape 7"/>
          <p:cNvSpPr/>
          <p:nvPr/>
        </p:nvSpPr>
        <p:spPr>
          <a:xfrm>
            <a:off x="4297680" y="1737360"/>
            <a:ext cx="3520440" cy="2103120"/>
          </a:xfrm>
          <a:prstGeom prst="roundRect">
            <a:avLst>
              <a:gd name="adj" fmla="val 4348"/>
            </a:avLst>
          </a:prstGeom>
          <a:solidFill>
            <a:srgbClr val="F7F9FA"/>
          </a:solidFill>
          <a:ln w="12700">
            <a:solidFill>
              <a:srgbClr val="E3E8EA"/>
            </a:solidFill>
            <a:prstDash val="solid"/>
          </a:ln>
        </p:spPr>
      </p:sp>
      <p:sp>
        <p:nvSpPr>
          <p:cNvPr id="10" name="Shape 8"/>
          <p:cNvSpPr/>
          <p:nvPr/>
        </p:nvSpPr>
        <p:spPr>
          <a:xfrm>
            <a:off x="4572000" y="2011680"/>
            <a:ext cx="594360" cy="594360"/>
          </a:xfrm>
          <a:prstGeom prst="ellipse">
            <a:avLst/>
          </a:prstGeom>
          <a:solidFill>
            <a:srgbClr val="1C7293"/>
          </a:solidFill>
          <a:ln/>
        </p:spPr>
      </p:sp>
      <p:sp>
        <p:nvSpPr>
          <p:cNvPr id="11" name="Text 9"/>
          <p:cNvSpPr txBox="1"/>
          <p:nvPr/>
        </p:nvSpPr>
        <p:spPr>
          <a:xfrm>
            <a:off x="4572000" y="201168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4526280" y="278892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Pandas / NumPy</a:t>
            </a:r>
            <a:endParaRPr lang="en-US" sz="1500" dirty="0"/>
          </a:p>
        </p:txBody>
      </p:sp>
      <p:sp>
        <p:nvSpPr>
          <p:cNvPr id="13" name="Text 11"/>
          <p:cNvSpPr txBox="1"/>
          <p:nvPr/>
        </p:nvSpPr>
        <p:spPr>
          <a:xfrm>
            <a:off x="4526280" y="315468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Data handling &amp; processing</a:t>
            </a:r>
            <a:endParaRPr lang="en-US" sz="1150" dirty="0"/>
          </a:p>
        </p:txBody>
      </p:sp>
      <p:sp>
        <p:nvSpPr>
          <p:cNvPr id="14" name="Shape 12"/>
          <p:cNvSpPr/>
          <p:nvPr/>
        </p:nvSpPr>
        <p:spPr>
          <a:xfrm>
            <a:off x="8046720" y="1737360"/>
            <a:ext cx="3520440" cy="2103120"/>
          </a:xfrm>
          <a:prstGeom prst="roundRect">
            <a:avLst>
              <a:gd name="adj" fmla="val 4348"/>
            </a:avLst>
          </a:prstGeom>
          <a:solidFill>
            <a:srgbClr val="F7F9FA"/>
          </a:solidFill>
          <a:ln w="12700">
            <a:solidFill>
              <a:srgbClr val="E3E8EA"/>
            </a:solidFill>
            <a:prstDash val="solid"/>
          </a:ln>
        </p:spPr>
      </p:sp>
      <p:sp>
        <p:nvSpPr>
          <p:cNvPr id="15" name="Shape 13"/>
          <p:cNvSpPr/>
          <p:nvPr/>
        </p:nvSpPr>
        <p:spPr>
          <a:xfrm>
            <a:off x="8321040" y="2011680"/>
            <a:ext cx="594360" cy="594360"/>
          </a:xfrm>
          <a:prstGeom prst="ellipse">
            <a:avLst/>
          </a:prstGeom>
          <a:solidFill>
            <a:srgbClr val="21295C"/>
          </a:solidFill>
          <a:ln/>
        </p:spPr>
      </p:sp>
      <p:sp>
        <p:nvSpPr>
          <p:cNvPr id="16" name="Text 14"/>
          <p:cNvSpPr txBox="1"/>
          <p:nvPr/>
        </p:nvSpPr>
        <p:spPr>
          <a:xfrm>
            <a:off x="8321040" y="201168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txBox="1"/>
          <p:nvPr/>
        </p:nvSpPr>
        <p:spPr>
          <a:xfrm>
            <a:off x="8275320" y="278892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TensorFlow / Keras</a:t>
            </a:r>
            <a:endParaRPr lang="en-US" sz="1500" dirty="0"/>
          </a:p>
        </p:txBody>
      </p:sp>
      <p:sp>
        <p:nvSpPr>
          <p:cNvPr id="18" name="Text 16"/>
          <p:cNvSpPr txBox="1"/>
          <p:nvPr/>
        </p:nvSpPr>
        <p:spPr>
          <a:xfrm>
            <a:off x="8275320" y="315468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Building the LSTM model</a:t>
            </a:r>
            <a:endParaRPr lang="en-US" sz="1150" dirty="0"/>
          </a:p>
        </p:txBody>
      </p:sp>
      <p:sp>
        <p:nvSpPr>
          <p:cNvPr id="19" name="Shape 17"/>
          <p:cNvSpPr/>
          <p:nvPr/>
        </p:nvSpPr>
        <p:spPr>
          <a:xfrm>
            <a:off x="548640" y="4114800"/>
            <a:ext cx="3520440" cy="2103120"/>
          </a:xfrm>
          <a:prstGeom prst="roundRect">
            <a:avLst>
              <a:gd name="adj" fmla="val 4348"/>
            </a:avLst>
          </a:prstGeom>
          <a:solidFill>
            <a:srgbClr val="F7F9FA"/>
          </a:solidFill>
          <a:ln w="12700">
            <a:solidFill>
              <a:srgbClr val="E3E8EA"/>
            </a:solidFill>
            <a:prstDash val="solid"/>
          </a:ln>
        </p:spPr>
      </p:sp>
      <p:sp>
        <p:nvSpPr>
          <p:cNvPr id="20" name="Shape 18"/>
          <p:cNvSpPr/>
          <p:nvPr/>
        </p:nvSpPr>
        <p:spPr>
          <a:xfrm>
            <a:off x="822960" y="4389120"/>
            <a:ext cx="594360" cy="594360"/>
          </a:xfrm>
          <a:prstGeom prst="ellipse">
            <a:avLst/>
          </a:prstGeom>
          <a:solidFill>
            <a:srgbClr val="F2A541"/>
          </a:solidFill>
          <a:ln/>
        </p:spPr>
      </p:sp>
      <p:sp>
        <p:nvSpPr>
          <p:cNvPr id="21" name="Text 19"/>
          <p:cNvSpPr txBox="1"/>
          <p:nvPr/>
        </p:nvSpPr>
        <p:spPr>
          <a:xfrm>
            <a:off x="822960" y="438912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txBox="1"/>
          <p:nvPr/>
        </p:nvSpPr>
        <p:spPr>
          <a:xfrm>
            <a:off x="777240" y="516636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Matplotlib / Seaborn</a:t>
            </a:r>
            <a:endParaRPr lang="en-US" sz="1500" dirty="0"/>
          </a:p>
        </p:txBody>
      </p:sp>
      <p:sp>
        <p:nvSpPr>
          <p:cNvPr id="23" name="Text 21"/>
          <p:cNvSpPr txBox="1"/>
          <p:nvPr/>
        </p:nvSpPr>
        <p:spPr>
          <a:xfrm>
            <a:off x="777240" y="553212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Data visualization</a:t>
            </a:r>
            <a:endParaRPr lang="en-US" sz="1150" dirty="0"/>
          </a:p>
        </p:txBody>
      </p:sp>
      <p:sp>
        <p:nvSpPr>
          <p:cNvPr id="24" name="Shape 22"/>
          <p:cNvSpPr/>
          <p:nvPr/>
        </p:nvSpPr>
        <p:spPr>
          <a:xfrm>
            <a:off x="4297680" y="4114800"/>
            <a:ext cx="3520440" cy="2103120"/>
          </a:xfrm>
          <a:prstGeom prst="roundRect">
            <a:avLst>
              <a:gd name="adj" fmla="val 4348"/>
            </a:avLst>
          </a:prstGeom>
          <a:solidFill>
            <a:srgbClr val="F7F9FA"/>
          </a:solidFill>
          <a:ln w="12700">
            <a:solidFill>
              <a:srgbClr val="E3E8EA"/>
            </a:solidFill>
            <a:prstDash val="solid"/>
          </a:ln>
        </p:spPr>
      </p:sp>
      <p:sp>
        <p:nvSpPr>
          <p:cNvPr id="25" name="Shape 23"/>
          <p:cNvSpPr/>
          <p:nvPr/>
        </p:nvSpPr>
        <p:spPr>
          <a:xfrm>
            <a:off x="4572000" y="4389120"/>
            <a:ext cx="594360" cy="594360"/>
          </a:xfrm>
          <a:prstGeom prst="ellipse">
            <a:avLst/>
          </a:prstGeom>
          <a:solidFill>
            <a:srgbClr val="D64545"/>
          </a:solidFill>
          <a:ln/>
        </p:spPr>
      </p:sp>
      <p:sp>
        <p:nvSpPr>
          <p:cNvPr id="26" name="Text 24"/>
          <p:cNvSpPr txBox="1"/>
          <p:nvPr/>
        </p:nvSpPr>
        <p:spPr>
          <a:xfrm>
            <a:off x="4572000" y="438912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7" name="Text 25"/>
          <p:cNvSpPr txBox="1"/>
          <p:nvPr/>
        </p:nvSpPr>
        <p:spPr>
          <a:xfrm>
            <a:off x="4526280" y="516636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Scikit-learn</a:t>
            </a:r>
            <a:endParaRPr lang="en-US" sz="1500" dirty="0"/>
          </a:p>
        </p:txBody>
      </p:sp>
      <p:sp>
        <p:nvSpPr>
          <p:cNvPr id="28" name="Text 26"/>
          <p:cNvSpPr txBox="1"/>
          <p:nvPr/>
        </p:nvSpPr>
        <p:spPr>
          <a:xfrm>
            <a:off x="4526280" y="553212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Regression models &amp; metrics</a:t>
            </a:r>
            <a:endParaRPr lang="en-US" sz="1150" dirty="0"/>
          </a:p>
        </p:txBody>
      </p:sp>
      <p:sp>
        <p:nvSpPr>
          <p:cNvPr id="29" name="Shape 27"/>
          <p:cNvSpPr/>
          <p:nvPr/>
        </p:nvSpPr>
        <p:spPr>
          <a:xfrm>
            <a:off x="8046720" y="4114800"/>
            <a:ext cx="3520440" cy="2103120"/>
          </a:xfrm>
          <a:prstGeom prst="roundRect">
            <a:avLst>
              <a:gd name="adj" fmla="val 4348"/>
            </a:avLst>
          </a:prstGeom>
          <a:solidFill>
            <a:srgbClr val="F7F9FA"/>
          </a:solidFill>
          <a:ln w="12700">
            <a:solidFill>
              <a:srgbClr val="E3E8EA"/>
            </a:solidFill>
            <a:prstDash val="solid"/>
          </a:ln>
        </p:spPr>
      </p:sp>
      <p:sp>
        <p:nvSpPr>
          <p:cNvPr id="30" name="Shape 28"/>
          <p:cNvSpPr/>
          <p:nvPr/>
        </p:nvSpPr>
        <p:spPr>
          <a:xfrm>
            <a:off x="8321040" y="4389120"/>
            <a:ext cx="594360" cy="594360"/>
          </a:xfrm>
          <a:prstGeom prst="ellipse">
            <a:avLst/>
          </a:prstGeom>
          <a:solidFill>
            <a:srgbClr val="1FA774"/>
          </a:solidFill>
          <a:ln/>
        </p:spPr>
      </p:sp>
      <p:sp>
        <p:nvSpPr>
          <p:cNvPr id="31" name="Text 29"/>
          <p:cNvSpPr txBox="1"/>
          <p:nvPr/>
        </p:nvSpPr>
        <p:spPr>
          <a:xfrm>
            <a:off x="8321040" y="4389120"/>
            <a:ext cx="594360" cy="59436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2" name="Text 30"/>
          <p:cNvSpPr txBox="1"/>
          <p:nvPr/>
        </p:nvSpPr>
        <p:spPr>
          <a:xfrm>
            <a:off x="8275320" y="5166360"/>
            <a:ext cx="3063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Jupyter Notebook</a:t>
            </a:r>
            <a:endParaRPr lang="en-US" sz="1500" dirty="0"/>
          </a:p>
        </p:txBody>
      </p:sp>
      <p:sp>
        <p:nvSpPr>
          <p:cNvPr id="33" name="Text 31"/>
          <p:cNvSpPr txBox="1"/>
          <p:nvPr/>
        </p:nvSpPr>
        <p:spPr>
          <a:xfrm>
            <a:off x="8275320" y="5532120"/>
            <a:ext cx="306324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Development environment</a:t>
            </a:r>
            <a:endParaRPr lang="en-US" sz="1150" dirty="0"/>
          </a:p>
        </p:txBody>
      </p:sp>
      <p:sp>
        <p:nvSpPr>
          <p:cNvPr id="34" name="Text 3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System Architecture / Workflow</a:t>
            </a:r>
            <a:endParaRPr lang="en-US" sz="3000" dirty="0"/>
          </a:p>
        </p:txBody>
      </p:sp>
      <p:sp>
        <p:nvSpPr>
          <p:cNvPr id="4" name="Shape 2"/>
          <p:cNvSpPr/>
          <p:nvPr/>
        </p:nvSpPr>
        <p:spPr>
          <a:xfrm>
            <a:off x="36576" y="2743200"/>
            <a:ext cx="1600200" cy="1188720"/>
          </a:xfrm>
          <a:prstGeom prst="roundRect">
            <a:avLst>
              <a:gd name="adj" fmla="val 7692"/>
            </a:avLst>
          </a:prstGeom>
          <a:solidFill>
            <a:srgbClr val="065A82"/>
          </a:solidFill>
          <a:ln/>
        </p:spPr>
      </p:sp>
      <p:sp>
        <p:nvSpPr>
          <p:cNvPr id="5" name="Text 3"/>
          <p:cNvSpPr txBox="1"/>
          <p:nvPr/>
        </p:nvSpPr>
        <p:spPr>
          <a:xfrm>
            <a:off x="3657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Collection</a:t>
            </a:r>
            <a:endParaRPr lang="en-US" sz="1250" dirty="0"/>
          </a:p>
        </p:txBody>
      </p:sp>
      <p:sp>
        <p:nvSpPr>
          <p:cNvPr id="6" name="Text 4"/>
          <p:cNvSpPr txBox="1"/>
          <p:nvPr/>
        </p:nvSpPr>
        <p:spPr>
          <a:xfrm>
            <a:off x="-9144"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1636776" y="3337560"/>
            <a:ext cx="502920" cy="0"/>
          </a:xfrm>
          <a:prstGeom prst="line">
            <a:avLst/>
          </a:prstGeom>
          <a:noFill/>
          <a:ln w="25400">
            <a:solidFill>
              <a:srgbClr val="5B6B79"/>
            </a:solidFill>
            <a:prstDash val="solid"/>
            <a:tailEnd type="triangle"/>
          </a:ln>
        </p:spPr>
      </p:sp>
      <p:sp>
        <p:nvSpPr>
          <p:cNvPr id="8" name="Shape 6"/>
          <p:cNvSpPr/>
          <p:nvPr/>
        </p:nvSpPr>
        <p:spPr>
          <a:xfrm>
            <a:off x="2139696" y="2743200"/>
            <a:ext cx="1600200" cy="1188720"/>
          </a:xfrm>
          <a:prstGeom prst="roundRect">
            <a:avLst>
              <a:gd name="adj" fmla="val 7692"/>
            </a:avLst>
          </a:prstGeom>
          <a:solidFill>
            <a:srgbClr val="1C7293"/>
          </a:solidFill>
          <a:ln/>
        </p:spPr>
      </p:sp>
      <p:sp>
        <p:nvSpPr>
          <p:cNvPr id="9" name="Text 7"/>
          <p:cNvSpPr txBox="1"/>
          <p:nvPr/>
        </p:nvSpPr>
        <p:spPr>
          <a:xfrm>
            <a:off x="213969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processing</a:t>
            </a:r>
            <a:endParaRPr lang="en-US" sz="1250" dirty="0"/>
          </a:p>
        </p:txBody>
      </p:sp>
      <p:sp>
        <p:nvSpPr>
          <p:cNvPr id="10" name="Text 8"/>
          <p:cNvSpPr txBox="1"/>
          <p:nvPr/>
        </p:nvSpPr>
        <p:spPr>
          <a:xfrm>
            <a:off x="2093976"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2</a:t>
            </a:r>
            <a:endParaRPr lang="en-US" sz="1200" dirty="0"/>
          </a:p>
        </p:txBody>
      </p:sp>
      <p:sp>
        <p:nvSpPr>
          <p:cNvPr id="11" name="Shape 9"/>
          <p:cNvSpPr/>
          <p:nvPr/>
        </p:nvSpPr>
        <p:spPr>
          <a:xfrm>
            <a:off x="3739896" y="3337560"/>
            <a:ext cx="502920" cy="0"/>
          </a:xfrm>
          <a:prstGeom prst="line">
            <a:avLst/>
          </a:prstGeom>
          <a:noFill/>
          <a:ln w="25400">
            <a:solidFill>
              <a:srgbClr val="5B6B79"/>
            </a:solidFill>
            <a:prstDash val="solid"/>
            <a:tailEnd type="triangle"/>
          </a:ln>
        </p:spPr>
      </p:sp>
      <p:sp>
        <p:nvSpPr>
          <p:cNvPr id="12" name="Shape 10"/>
          <p:cNvSpPr/>
          <p:nvPr/>
        </p:nvSpPr>
        <p:spPr>
          <a:xfrm>
            <a:off x="4242816" y="2743200"/>
            <a:ext cx="1600200" cy="1188720"/>
          </a:xfrm>
          <a:prstGeom prst="roundRect">
            <a:avLst>
              <a:gd name="adj" fmla="val 7692"/>
            </a:avLst>
          </a:prstGeom>
          <a:solidFill>
            <a:srgbClr val="21295C"/>
          </a:solidFill>
          <a:ln/>
        </p:spPr>
      </p:sp>
      <p:sp>
        <p:nvSpPr>
          <p:cNvPr id="13" name="Text 11"/>
          <p:cNvSpPr txBox="1"/>
          <p:nvPr/>
        </p:nvSpPr>
        <p:spPr>
          <a:xfrm>
            <a:off x="424281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Engineering</a:t>
            </a:r>
            <a:endParaRPr lang="en-US" sz="1250" dirty="0"/>
          </a:p>
        </p:txBody>
      </p:sp>
      <p:sp>
        <p:nvSpPr>
          <p:cNvPr id="14" name="Text 12"/>
          <p:cNvSpPr txBox="1"/>
          <p:nvPr/>
        </p:nvSpPr>
        <p:spPr>
          <a:xfrm>
            <a:off x="4197096"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3</a:t>
            </a:r>
            <a:endParaRPr lang="en-US" sz="1200" dirty="0"/>
          </a:p>
        </p:txBody>
      </p:sp>
      <p:sp>
        <p:nvSpPr>
          <p:cNvPr id="15" name="Shape 13"/>
          <p:cNvSpPr/>
          <p:nvPr/>
        </p:nvSpPr>
        <p:spPr>
          <a:xfrm>
            <a:off x="5843016" y="3337560"/>
            <a:ext cx="502920" cy="0"/>
          </a:xfrm>
          <a:prstGeom prst="line">
            <a:avLst/>
          </a:prstGeom>
          <a:noFill/>
          <a:ln w="25400">
            <a:solidFill>
              <a:srgbClr val="5B6B79"/>
            </a:solidFill>
            <a:prstDash val="solid"/>
            <a:tailEnd type="triangle"/>
          </a:ln>
        </p:spPr>
      </p:sp>
      <p:sp>
        <p:nvSpPr>
          <p:cNvPr id="16" name="Shape 14"/>
          <p:cNvSpPr/>
          <p:nvPr/>
        </p:nvSpPr>
        <p:spPr>
          <a:xfrm>
            <a:off x="6345936" y="2743200"/>
            <a:ext cx="1600200" cy="1188720"/>
          </a:xfrm>
          <a:prstGeom prst="roundRect">
            <a:avLst>
              <a:gd name="adj" fmla="val 7692"/>
            </a:avLst>
          </a:prstGeom>
          <a:solidFill>
            <a:srgbClr val="F2A541"/>
          </a:solidFill>
          <a:ln/>
        </p:spPr>
      </p:sp>
      <p:sp>
        <p:nvSpPr>
          <p:cNvPr id="17" name="Text 15"/>
          <p:cNvSpPr txBox="1"/>
          <p:nvPr/>
        </p:nvSpPr>
        <p:spPr>
          <a:xfrm>
            <a:off x="634593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Training</a:t>
            </a:r>
            <a:endParaRPr lang="en-US" sz="1250" dirty="0"/>
          </a:p>
        </p:txBody>
      </p:sp>
      <p:sp>
        <p:nvSpPr>
          <p:cNvPr id="18" name="Text 16"/>
          <p:cNvSpPr txBox="1"/>
          <p:nvPr/>
        </p:nvSpPr>
        <p:spPr>
          <a:xfrm>
            <a:off x="6300216"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4</a:t>
            </a:r>
            <a:endParaRPr lang="en-US" sz="1200" dirty="0"/>
          </a:p>
        </p:txBody>
      </p:sp>
      <p:sp>
        <p:nvSpPr>
          <p:cNvPr id="19" name="Shape 17"/>
          <p:cNvSpPr/>
          <p:nvPr/>
        </p:nvSpPr>
        <p:spPr>
          <a:xfrm>
            <a:off x="7946136" y="3337560"/>
            <a:ext cx="502920" cy="0"/>
          </a:xfrm>
          <a:prstGeom prst="line">
            <a:avLst/>
          </a:prstGeom>
          <a:noFill/>
          <a:ln w="25400">
            <a:solidFill>
              <a:srgbClr val="5B6B79"/>
            </a:solidFill>
            <a:prstDash val="solid"/>
            <a:tailEnd type="triangle"/>
          </a:ln>
        </p:spPr>
      </p:sp>
      <p:sp>
        <p:nvSpPr>
          <p:cNvPr id="20" name="Shape 18"/>
          <p:cNvSpPr/>
          <p:nvPr/>
        </p:nvSpPr>
        <p:spPr>
          <a:xfrm>
            <a:off x="8449056" y="2743200"/>
            <a:ext cx="1600200" cy="1188720"/>
          </a:xfrm>
          <a:prstGeom prst="roundRect">
            <a:avLst>
              <a:gd name="adj" fmla="val 7692"/>
            </a:avLst>
          </a:prstGeom>
          <a:solidFill>
            <a:srgbClr val="D64545"/>
          </a:solidFill>
          <a:ln/>
        </p:spPr>
      </p:sp>
      <p:sp>
        <p:nvSpPr>
          <p:cNvPr id="21" name="Text 19"/>
          <p:cNvSpPr txBox="1"/>
          <p:nvPr/>
        </p:nvSpPr>
        <p:spPr>
          <a:xfrm>
            <a:off x="844905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Evaluation</a:t>
            </a:r>
            <a:endParaRPr lang="en-US" sz="1250" dirty="0"/>
          </a:p>
        </p:txBody>
      </p:sp>
      <p:sp>
        <p:nvSpPr>
          <p:cNvPr id="22" name="Text 20"/>
          <p:cNvSpPr txBox="1"/>
          <p:nvPr/>
        </p:nvSpPr>
        <p:spPr>
          <a:xfrm>
            <a:off x="8403336"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5</a:t>
            </a:r>
            <a:endParaRPr lang="en-US" sz="1200" dirty="0"/>
          </a:p>
        </p:txBody>
      </p:sp>
      <p:sp>
        <p:nvSpPr>
          <p:cNvPr id="23" name="Shape 21"/>
          <p:cNvSpPr/>
          <p:nvPr/>
        </p:nvSpPr>
        <p:spPr>
          <a:xfrm>
            <a:off x="10049256" y="3337560"/>
            <a:ext cx="502920" cy="0"/>
          </a:xfrm>
          <a:prstGeom prst="line">
            <a:avLst/>
          </a:prstGeom>
          <a:noFill/>
          <a:ln w="25400">
            <a:solidFill>
              <a:srgbClr val="5B6B79"/>
            </a:solidFill>
            <a:prstDash val="solid"/>
            <a:tailEnd type="triangle"/>
          </a:ln>
        </p:spPr>
      </p:sp>
      <p:sp>
        <p:nvSpPr>
          <p:cNvPr id="24" name="Shape 22"/>
          <p:cNvSpPr/>
          <p:nvPr/>
        </p:nvSpPr>
        <p:spPr>
          <a:xfrm>
            <a:off x="10552176" y="2743200"/>
            <a:ext cx="1600200" cy="1188720"/>
          </a:xfrm>
          <a:prstGeom prst="roundRect">
            <a:avLst>
              <a:gd name="adj" fmla="val 7692"/>
            </a:avLst>
          </a:prstGeom>
          <a:solidFill>
            <a:srgbClr val="1FA774"/>
          </a:solidFill>
          <a:ln/>
        </p:spPr>
      </p:sp>
      <p:sp>
        <p:nvSpPr>
          <p:cNvPr id="25" name="Text 23"/>
          <p:cNvSpPr txBox="1"/>
          <p:nvPr/>
        </p:nvSpPr>
        <p:spPr>
          <a:xfrm>
            <a:off x="10552176" y="2743200"/>
            <a:ext cx="160020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Prediction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Visualization</a:t>
            </a:r>
            <a:endParaRPr lang="en-US" sz="1250" dirty="0"/>
          </a:p>
        </p:txBody>
      </p:sp>
      <p:sp>
        <p:nvSpPr>
          <p:cNvPr id="26" name="Text 24"/>
          <p:cNvSpPr txBox="1"/>
          <p:nvPr/>
        </p:nvSpPr>
        <p:spPr>
          <a:xfrm>
            <a:off x="10506456" y="2423160"/>
            <a:ext cx="457200" cy="365760"/>
          </a:xfrm>
          <a:prstGeom prst="rect">
            <a:avLst/>
          </a:prstGeom>
          <a:noFill/>
          <a:ln/>
        </p:spPr>
        <p:txBody>
          <a:bodyPr wrap="square" rtlCol="0" anchor="ctr"/>
          <a:lstStyle/>
          <a:p>
            <a:pPr algn="ctr" indent="0" marL="0">
              <a:buNone/>
            </a:pPr>
            <a:r>
              <a:rPr lang="en-US" sz="1200" b="1" dirty="0">
                <a:solidFill>
                  <a:srgbClr val="5B6B79"/>
                </a:solidFill>
                <a:latin typeface="Calibri" pitchFamily="34" charset="0"/>
                <a:ea typeface="Calibri" pitchFamily="34" charset="-122"/>
                <a:cs typeface="Calibri" pitchFamily="34" charset="-120"/>
              </a:rPr>
              <a:t>6</a:t>
            </a:r>
            <a:endParaRPr lang="en-US" sz="1200" dirty="0"/>
          </a:p>
        </p:txBody>
      </p:sp>
      <p:sp>
        <p:nvSpPr>
          <p:cNvPr id="27" name="Text 25"/>
          <p:cNvSpPr txBox="1"/>
          <p:nvPr/>
        </p:nvSpPr>
        <p:spPr>
          <a:xfrm>
            <a:off x="914400" y="4480560"/>
            <a:ext cx="10332720" cy="731520"/>
          </a:xfrm>
          <a:prstGeom prst="rect">
            <a:avLst/>
          </a:prstGeom>
          <a:noFill/>
          <a:ln/>
        </p:spPr>
        <p:txBody>
          <a:bodyPr wrap="square" rtlCol="0" anchor="ctr"/>
          <a:lstStyle/>
          <a:p>
            <a:pPr algn="ctr" indent="0" marL="0">
              <a:buNone/>
            </a:pPr>
            <a:r>
              <a:rPr lang="en-US" sz="1300" i="1" dirty="0">
                <a:solidFill>
                  <a:srgbClr val="5B6B79"/>
                </a:solidFill>
                <a:latin typeface="Calibri" pitchFamily="34" charset="0"/>
                <a:ea typeface="Calibri" pitchFamily="34" charset="-122"/>
                <a:cs typeface="Calibri" pitchFamily="34" charset="-120"/>
              </a:rPr>
              <a:t>Raw market data flows through cleaning and feature engineering, is used to train a predictive model, and the model's output is evaluated and visualized against actual prices.</a:t>
            </a:r>
            <a:endParaRPr lang="en-US" sz="1300" dirty="0"/>
          </a:p>
        </p:txBody>
      </p:sp>
      <p:sp>
        <p:nvSpPr>
          <p:cNvPr id="28" name="Text 2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CORE ALGORITHM</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LSTM for Stock Prediction?</a:t>
            </a:r>
            <a:endParaRPr lang="en-US" sz="3000" dirty="0"/>
          </a:p>
        </p:txBody>
      </p:sp>
      <p:sp>
        <p:nvSpPr>
          <p:cNvPr id="4" name="Text 2"/>
          <p:cNvSpPr txBox="1"/>
          <p:nvPr/>
        </p:nvSpPr>
        <p:spPr>
          <a:xfrm>
            <a:off x="548640" y="1600200"/>
            <a:ext cx="6035040" cy="1188720"/>
          </a:xfrm>
          <a:prstGeom prst="rect">
            <a:avLst/>
          </a:prstGeom>
          <a:noFill/>
          <a:ln/>
        </p:spPr>
        <p:txBody>
          <a:bodyPr wrap="square" rtlCol="0" anchor="ctr"/>
          <a:lstStyle/>
          <a:p>
            <a:pPr indent="0" marL="0">
              <a:lnSpc>
                <a:spcPct val="125000"/>
              </a:lnSpc>
              <a:buNone/>
            </a:pPr>
            <a:r>
              <a:rPr lang="en-US" sz="1400" dirty="0">
                <a:solidFill>
                  <a:srgbClr val="CFE8EF"/>
                </a:solidFill>
                <a:latin typeface="Calibri" pitchFamily="34" charset="0"/>
                <a:ea typeface="Calibri" pitchFamily="34" charset="-122"/>
                <a:cs typeface="Calibri" pitchFamily="34" charset="-120"/>
              </a:rPr>
              <a:t>Long Short-Term Memory (LSTM) is a type of Recurrent Neural Network (RNN) specifically designed to learn patterns in sequential, time-dependent data — making it well suited to stock price series.</a:t>
            </a:r>
            <a:endParaRPr lang="en-US" sz="1400" dirty="0"/>
          </a:p>
        </p:txBody>
      </p:sp>
      <p:sp>
        <p:nvSpPr>
          <p:cNvPr id="5" name="Shape 3"/>
          <p:cNvSpPr/>
          <p:nvPr/>
        </p:nvSpPr>
        <p:spPr>
          <a:xfrm>
            <a:off x="548640" y="2880360"/>
            <a:ext cx="329184" cy="329184"/>
          </a:xfrm>
          <a:prstGeom prst="ellipse">
            <a:avLst/>
          </a:prstGeom>
          <a:solidFill>
            <a:srgbClr val="F2A541"/>
          </a:solidFill>
          <a:ln/>
        </p:spPr>
      </p:sp>
      <p:sp>
        <p:nvSpPr>
          <p:cNvPr id="6" name="Text 4"/>
          <p:cNvSpPr txBox="1"/>
          <p:nvPr/>
        </p:nvSpPr>
        <p:spPr>
          <a:xfrm>
            <a:off x="548640" y="2880360"/>
            <a:ext cx="329184" cy="329184"/>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051560" y="2852928"/>
            <a:ext cx="548640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Remembers long-term dependencies in sequential data</a:t>
            </a:r>
            <a:endParaRPr lang="en-US" sz="1300" dirty="0"/>
          </a:p>
        </p:txBody>
      </p:sp>
      <p:sp>
        <p:nvSpPr>
          <p:cNvPr id="8" name="Shape 6"/>
          <p:cNvSpPr/>
          <p:nvPr/>
        </p:nvSpPr>
        <p:spPr>
          <a:xfrm>
            <a:off x="548640" y="3447288"/>
            <a:ext cx="329184" cy="329184"/>
          </a:xfrm>
          <a:prstGeom prst="ellipse">
            <a:avLst/>
          </a:prstGeom>
          <a:solidFill>
            <a:srgbClr val="F2A541"/>
          </a:solidFill>
          <a:ln/>
        </p:spPr>
      </p:sp>
      <p:sp>
        <p:nvSpPr>
          <p:cNvPr id="9" name="Text 7"/>
          <p:cNvSpPr txBox="1"/>
          <p:nvPr/>
        </p:nvSpPr>
        <p:spPr>
          <a:xfrm>
            <a:off x="548640" y="3447288"/>
            <a:ext cx="329184" cy="329184"/>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051560" y="3419856"/>
            <a:ext cx="548640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Overcomes the vanishing-gradient problem of standard RNNs</a:t>
            </a:r>
            <a:endParaRPr lang="en-US" sz="1300" dirty="0"/>
          </a:p>
        </p:txBody>
      </p:sp>
      <p:sp>
        <p:nvSpPr>
          <p:cNvPr id="11" name="Shape 9"/>
          <p:cNvSpPr/>
          <p:nvPr/>
        </p:nvSpPr>
        <p:spPr>
          <a:xfrm>
            <a:off x="548640" y="4014216"/>
            <a:ext cx="329184" cy="329184"/>
          </a:xfrm>
          <a:prstGeom prst="ellipse">
            <a:avLst/>
          </a:prstGeom>
          <a:solidFill>
            <a:srgbClr val="F2A541"/>
          </a:solidFill>
          <a:ln/>
        </p:spPr>
      </p:sp>
      <p:sp>
        <p:nvSpPr>
          <p:cNvPr id="12" name="Text 10"/>
          <p:cNvSpPr txBox="1"/>
          <p:nvPr/>
        </p:nvSpPr>
        <p:spPr>
          <a:xfrm>
            <a:off x="548640" y="4014216"/>
            <a:ext cx="329184" cy="329184"/>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051560" y="3986784"/>
            <a:ext cx="548640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Uses gates (input, forget, output) to control information flow</a:t>
            </a:r>
            <a:endParaRPr lang="en-US" sz="1300" dirty="0"/>
          </a:p>
        </p:txBody>
      </p:sp>
      <p:sp>
        <p:nvSpPr>
          <p:cNvPr id="14" name="Shape 12"/>
          <p:cNvSpPr/>
          <p:nvPr/>
        </p:nvSpPr>
        <p:spPr>
          <a:xfrm>
            <a:off x="548640" y="4581144"/>
            <a:ext cx="329184" cy="329184"/>
          </a:xfrm>
          <a:prstGeom prst="ellipse">
            <a:avLst/>
          </a:prstGeom>
          <a:solidFill>
            <a:srgbClr val="F2A541"/>
          </a:solidFill>
          <a:ln/>
        </p:spPr>
      </p:sp>
      <p:sp>
        <p:nvSpPr>
          <p:cNvPr id="15" name="Text 13"/>
          <p:cNvSpPr txBox="1"/>
          <p:nvPr/>
        </p:nvSpPr>
        <p:spPr>
          <a:xfrm>
            <a:off x="548640" y="4581144"/>
            <a:ext cx="329184" cy="329184"/>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6" name="Text 14"/>
          <p:cNvSpPr txBox="1"/>
          <p:nvPr/>
        </p:nvSpPr>
        <p:spPr>
          <a:xfrm>
            <a:off x="1051560" y="4553712"/>
            <a:ext cx="548640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Well suited to noisy, time-ordered financial data</a:t>
            </a:r>
            <a:endParaRPr lang="en-US" sz="1300" dirty="0"/>
          </a:p>
        </p:txBody>
      </p:sp>
      <p:sp>
        <p:nvSpPr>
          <p:cNvPr id="17" name="Shape 15"/>
          <p:cNvSpPr/>
          <p:nvPr/>
        </p:nvSpPr>
        <p:spPr>
          <a:xfrm>
            <a:off x="7589520" y="1600200"/>
            <a:ext cx="3749040" cy="658368"/>
          </a:xfrm>
          <a:prstGeom prst="roundRect">
            <a:avLst>
              <a:gd name="adj" fmla="val 11111"/>
            </a:avLst>
          </a:prstGeom>
          <a:solidFill>
            <a:srgbClr val="065A82"/>
          </a:solidFill>
          <a:ln/>
        </p:spPr>
      </p:sp>
      <p:sp>
        <p:nvSpPr>
          <p:cNvPr id="18" name="Text 16"/>
          <p:cNvSpPr txBox="1"/>
          <p:nvPr/>
        </p:nvSpPr>
        <p:spPr>
          <a:xfrm>
            <a:off x="7589520" y="1600200"/>
            <a:ext cx="37490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 Layer</a:t>
            </a:r>
            <a:endParaRPr lang="en-US" sz="1300" dirty="0"/>
          </a:p>
        </p:txBody>
      </p:sp>
      <p:sp>
        <p:nvSpPr>
          <p:cNvPr id="19" name="Shape 17"/>
          <p:cNvSpPr/>
          <p:nvPr/>
        </p:nvSpPr>
        <p:spPr>
          <a:xfrm>
            <a:off x="9464040" y="2258568"/>
            <a:ext cx="0" cy="201168"/>
          </a:xfrm>
          <a:prstGeom prst="line">
            <a:avLst/>
          </a:prstGeom>
          <a:noFill/>
          <a:ln w="19050">
            <a:solidFill>
              <a:srgbClr val="CFE8EF"/>
            </a:solidFill>
            <a:prstDash val="solid"/>
            <a:tailEnd type="triangle"/>
          </a:ln>
        </p:spPr>
      </p:sp>
      <p:sp>
        <p:nvSpPr>
          <p:cNvPr id="20" name="Shape 18"/>
          <p:cNvSpPr/>
          <p:nvPr/>
        </p:nvSpPr>
        <p:spPr>
          <a:xfrm>
            <a:off x="7589520" y="2459736"/>
            <a:ext cx="3749040" cy="658368"/>
          </a:xfrm>
          <a:prstGeom prst="roundRect">
            <a:avLst>
              <a:gd name="adj" fmla="val 11111"/>
            </a:avLst>
          </a:prstGeom>
          <a:solidFill>
            <a:srgbClr val="1C7293"/>
          </a:solidFill>
          <a:ln/>
        </p:spPr>
      </p:sp>
      <p:sp>
        <p:nvSpPr>
          <p:cNvPr id="21" name="Text 19"/>
          <p:cNvSpPr txBox="1"/>
          <p:nvPr/>
        </p:nvSpPr>
        <p:spPr>
          <a:xfrm>
            <a:off x="7589520" y="2459736"/>
            <a:ext cx="37490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LSTM Layer 1</a:t>
            </a:r>
            <a:endParaRPr lang="en-US" sz="1300" dirty="0"/>
          </a:p>
        </p:txBody>
      </p:sp>
      <p:sp>
        <p:nvSpPr>
          <p:cNvPr id="22" name="Shape 20"/>
          <p:cNvSpPr/>
          <p:nvPr/>
        </p:nvSpPr>
        <p:spPr>
          <a:xfrm>
            <a:off x="9464040" y="3118104"/>
            <a:ext cx="0" cy="201168"/>
          </a:xfrm>
          <a:prstGeom prst="line">
            <a:avLst/>
          </a:prstGeom>
          <a:noFill/>
          <a:ln w="19050">
            <a:solidFill>
              <a:srgbClr val="CFE8EF"/>
            </a:solidFill>
            <a:prstDash val="solid"/>
            <a:tailEnd type="triangle"/>
          </a:ln>
        </p:spPr>
      </p:sp>
      <p:sp>
        <p:nvSpPr>
          <p:cNvPr id="23" name="Shape 21"/>
          <p:cNvSpPr/>
          <p:nvPr/>
        </p:nvSpPr>
        <p:spPr>
          <a:xfrm>
            <a:off x="7589520" y="3319272"/>
            <a:ext cx="3749040" cy="658368"/>
          </a:xfrm>
          <a:prstGeom prst="roundRect">
            <a:avLst>
              <a:gd name="adj" fmla="val 11111"/>
            </a:avLst>
          </a:prstGeom>
          <a:solidFill>
            <a:srgbClr val="1C7293"/>
          </a:solidFill>
          <a:ln/>
        </p:spPr>
      </p:sp>
      <p:sp>
        <p:nvSpPr>
          <p:cNvPr id="24" name="Text 22"/>
          <p:cNvSpPr txBox="1"/>
          <p:nvPr/>
        </p:nvSpPr>
        <p:spPr>
          <a:xfrm>
            <a:off x="7589520" y="3319272"/>
            <a:ext cx="37490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LSTM Layer 2</a:t>
            </a:r>
            <a:endParaRPr lang="en-US" sz="1300" dirty="0"/>
          </a:p>
        </p:txBody>
      </p:sp>
      <p:sp>
        <p:nvSpPr>
          <p:cNvPr id="25" name="Shape 23"/>
          <p:cNvSpPr/>
          <p:nvPr/>
        </p:nvSpPr>
        <p:spPr>
          <a:xfrm>
            <a:off x="9464040" y="3977640"/>
            <a:ext cx="0" cy="201168"/>
          </a:xfrm>
          <a:prstGeom prst="line">
            <a:avLst/>
          </a:prstGeom>
          <a:noFill/>
          <a:ln w="19050">
            <a:solidFill>
              <a:srgbClr val="CFE8EF"/>
            </a:solidFill>
            <a:prstDash val="solid"/>
            <a:tailEnd type="triangle"/>
          </a:ln>
        </p:spPr>
      </p:sp>
      <p:sp>
        <p:nvSpPr>
          <p:cNvPr id="26" name="Shape 24"/>
          <p:cNvSpPr/>
          <p:nvPr/>
        </p:nvSpPr>
        <p:spPr>
          <a:xfrm>
            <a:off x="7589520" y="4178808"/>
            <a:ext cx="3749040" cy="658368"/>
          </a:xfrm>
          <a:prstGeom prst="roundRect">
            <a:avLst>
              <a:gd name="adj" fmla="val 11111"/>
            </a:avLst>
          </a:prstGeom>
          <a:solidFill>
            <a:srgbClr val="F2A541"/>
          </a:solidFill>
          <a:ln/>
        </p:spPr>
      </p:sp>
      <p:sp>
        <p:nvSpPr>
          <p:cNvPr id="27" name="Text 25"/>
          <p:cNvSpPr txBox="1"/>
          <p:nvPr/>
        </p:nvSpPr>
        <p:spPr>
          <a:xfrm>
            <a:off x="7589520" y="4178808"/>
            <a:ext cx="37490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Dense Layer</a:t>
            </a:r>
            <a:endParaRPr lang="en-US" sz="1300" dirty="0"/>
          </a:p>
        </p:txBody>
      </p:sp>
      <p:sp>
        <p:nvSpPr>
          <p:cNvPr id="28" name="Shape 26"/>
          <p:cNvSpPr/>
          <p:nvPr/>
        </p:nvSpPr>
        <p:spPr>
          <a:xfrm>
            <a:off x="9464040" y="4837176"/>
            <a:ext cx="0" cy="201168"/>
          </a:xfrm>
          <a:prstGeom prst="line">
            <a:avLst/>
          </a:prstGeom>
          <a:noFill/>
          <a:ln w="19050">
            <a:solidFill>
              <a:srgbClr val="CFE8EF"/>
            </a:solidFill>
            <a:prstDash val="solid"/>
            <a:tailEnd type="triangle"/>
          </a:ln>
        </p:spPr>
      </p:sp>
      <p:sp>
        <p:nvSpPr>
          <p:cNvPr id="29" name="Shape 27"/>
          <p:cNvSpPr/>
          <p:nvPr/>
        </p:nvSpPr>
        <p:spPr>
          <a:xfrm>
            <a:off x="7589520" y="5038344"/>
            <a:ext cx="3749040" cy="658368"/>
          </a:xfrm>
          <a:prstGeom prst="roundRect">
            <a:avLst>
              <a:gd name="adj" fmla="val 11111"/>
            </a:avLst>
          </a:prstGeom>
          <a:solidFill>
            <a:srgbClr val="1FA774"/>
          </a:solidFill>
          <a:ln/>
        </p:spPr>
      </p:sp>
      <p:sp>
        <p:nvSpPr>
          <p:cNvPr id="30" name="Text 28"/>
          <p:cNvSpPr txBox="1"/>
          <p:nvPr/>
        </p:nvSpPr>
        <p:spPr>
          <a:xfrm>
            <a:off x="7589520" y="5038344"/>
            <a:ext cx="37490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Price</a:t>
            </a:r>
            <a:endParaRPr lang="en-US" sz="1300" dirty="0"/>
          </a:p>
        </p:txBody>
      </p:sp>
      <p:sp>
        <p:nvSpPr>
          <p:cNvPr id="31" name="Text 29"/>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Step-by-Step Implementation</a:t>
            </a:r>
            <a:endParaRPr lang="en-US" sz="3000" dirty="0"/>
          </a:p>
        </p:txBody>
      </p:sp>
      <p:sp>
        <p:nvSpPr>
          <p:cNvPr id="4" name="Shape 2"/>
          <p:cNvSpPr/>
          <p:nvPr/>
        </p:nvSpPr>
        <p:spPr>
          <a:xfrm>
            <a:off x="548640" y="1691640"/>
            <a:ext cx="5440680" cy="1417320"/>
          </a:xfrm>
          <a:prstGeom prst="roundRect">
            <a:avLst>
              <a:gd name="adj" fmla="val 5161"/>
            </a:avLst>
          </a:prstGeom>
          <a:solidFill>
            <a:srgbClr val="F4F8FA"/>
          </a:solidFill>
          <a:ln w="12700">
            <a:solidFill>
              <a:srgbClr val="E3E8EA"/>
            </a:solidFill>
            <a:prstDash val="solid"/>
          </a:ln>
        </p:spPr>
      </p:sp>
      <p:sp>
        <p:nvSpPr>
          <p:cNvPr id="5" name="Shape 3"/>
          <p:cNvSpPr/>
          <p:nvPr/>
        </p:nvSpPr>
        <p:spPr>
          <a:xfrm>
            <a:off x="749808" y="1874520"/>
            <a:ext cx="502920" cy="502920"/>
          </a:xfrm>
          <a:prstGeom prst="ellipse">
            <a:avLst/>
          </a:prstGeom>
          <a:solidFill>
            <a:srgbClr val="065A82"/>
          </a:solidFill>
          <a:ln/>
        </p:spPr>
      </p:sp>
      <p:sp>
        <p:nvSpPr>
          <p:cNvPr id="6" name="Text 4"/>
          <p:cNvSpPr txBox="1"/>
          <p:nvPr/>
        </p:nvSpPr>
        <p:spPr>
          <a:xfrm>
            <a:off x="749808" y="18745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183794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Import &amp; Clean Data</a:t>
            </a:r>
            <a:endParaRPr lang="en-US" sz="1400" dirty="0"/>
          </a:p>
        </p:txBody>
      </p:sp>
      <p:sp>
        <p:nvSpPr>
          <p:cNvPr id="8" name="Text 6"/>
          <p:cNvSpPr txBox="1"/>
          <p:nvPr/>
        </p:nvSpPr>
        <p:spPr>
          <a:xfrm>
            <a:off x="1417320" y="222199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Load historical stock data; handle missing values and outliers.</a:t>
            </a:r>
            <a:endParaRPr lang="en-US" sz="1150" dirty="0"/>
          </a:p>
        </p:txBody>
      </p:sp>
      <p:sp>
        <p:nvSpPr>
          <p:cNvPr id="9" name="Shape 7"/>
          <p:cNvSpPr/>
          <p:nvPr/>
        </p:nvSpPr>
        <p:spPr>
          <a:xfrm>
            <a:off x="6263640" y="1691640"/>
            <a:ext cx="5440680" cy="1417320"/>
          </a:xfrm>
          <a:prstGeom prst="roundRect">
            <a:avLst>
              <a:gd name="adj" fmla="val 5161"/>
            </a:avLst>
          </a:prstGeom>
          <a:solidFill>
            <a:srgbClr val="F4F8FA"/>
          </a:solidFill>
          <a:ln w="12700">
            <a:solidFill>
              <a:srgbClr val="E3E8EA"/>
            </a:solidFill>
            <a:prstDash val="solid"/>
          </a:ln>
        </p:spPr>
      </p:sp>
      <p:sp>
        <p:nvSpPr>
          <p:cNvPr id="10" name="Shape 8"/>
          <p:cNvSpPr/>
          <p:nvPr/>
        </p:nvSpPr>
        <p:spPr>
          <a:xfrm>
            <a:off x="6464808" y="1874520"/>
            <a:ext cx="502920" cy="502920"/>
          </a:xfrm>
          <a:prstGeom prst="ellipse">
            <a:avLst/>
          </a:prstGeom>
          <a:solidFill>
            <a:srgbClr val="065A82"/>
          </a:solidFill>
          <a:ln/>
        </p:spPr>
      </p:sp>
      <p:sp>
        <p:nvSpPr>
          <p:cNvPr id="11" name="Text 9"/>
          <p:cNvSpPr txBox="1"/>
          <p:nvPr/>
        </p:nvSpPr>
        <p:spPr>
          <a:xfrm>
            <a:off x="6464808" y="18745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7132320" y="183794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Normalize Data</a:t>
            </a:r>
            <a:endParaRPr lang="en-US" sz="1400" dirty="0"/>
          </a:p>
        </p:txBody>
      </p:sp>
      <p:sp>
        <p:nvSpPr>
          <p:cNvPr id="13" name="Text 11"/>
          <p:cNvSpPr txBox="1"/>
          <p:nvPr/>
        </p:nvSpPr>
        <p:spPr>
          <a:xfrm>
            <a:off x="7132320" y="222199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Scale prices using MinMaxScaler for stable model training.</a:t>
            </a:r>
            <a:endParaRPr lang="en-US" sz="1150" dirty="0"/>
          </a:p>
        </p:txBody>
      </p:sp>
      <p:sp>
        <p:nvSpPr>
          <p:cNvPr id="14" name="Shape 12"/>
          <p:cNvSpPr/>
          <p:nvPr/>
        </p:nvSpPr>
        <p:spPr>
          <a:xfrm>
            <a:off x="548640" y="3337560"/>
            <a:ext cx="5440680" cy="1417320"/>
          </a:xfrm>
          <a:prstGeom prst="roundRect">
            <a:avLst>
              <a:gd name="adj" fmla="val 5161"/>
            </a:avLst>
          </a:prstGeom>
          <a:solidFill>
            <a:srgbClr val="F4F8FA"/>
          </a:solidFill>
          <a:ln w="12700">
            <a:solidFill>
              <a:srgbClr val="E3E8EA"/>
            </a:solidFill>
            <a:prstDash val="solid"/>
          </a:ln>
        </p:spPr>
      </p:sp>
      <p:sp>
        <p:nvSpPr>
          <p:cNvPr id="15" name="Shape 13"/>
          <p:cNvSpPr/>
          <p:nvPr/>
        </p:nvSpPr>
        <p:spPr>
          <a:xfrm>
            <a:off x="749808" y="3520440"/>
            <a:ext cx="502920" cy="502920"/>
          </a:xfrm>
          <a:prstGeom prst="ellipse">
            <a:avLst/>
          </a:prstGeom>
          <a:solidFill>
            <a:srgbClr val="065A82"/>
          </a:solidFill>
          <a:ln/>
        </p:spPr>
      </p:sp>
      <p:sp>
        <p:nvSpPr>
          <p:cNvPr id="16" name="Text 14"/>
          <p:cNvSpPr txBox="1"/>
          <p:nvPr/>
        </p:nvSpPr>
        <p:spPr>
          <a:xfrm>
            <a:off x="749808" y="35204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417320" y="348386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Create Sequences</a:t>
            </a:r>
            <a:endParaRPr lang="en-US" sz="1400" dirty="0"/>
          </a:p>
        </p:txBody>
      </p:sp>
      <p:sp>
        <p:nvSpPr>
          <p:cNvPr id="18" name="Text 16"/>
          <p:cNvSpPr txBox="1"/>
          <p:nvPr/>
        </p:nvSpPr>
        <p:spPr>
          <a:xfrm>
            <a:off x="1417320" y="386791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Convert data into fixed-length time-window sequences (X, y).</a:t>
            </a:r>
            <a:endParaRPr lang="en-US" sz="1150" dirty="0"/>
          </a:p>
        </p:txBody>
      </p:sp>
      <p:sp>
        <p:nvSpPr>
          <p:cNvPr id="19" name="Shape 17"/>
          <p:cNvSpPr/>
          <p:nvPr/>
        </p:nvSpPr>
        <p:spPr>
          <a:xfrm>
            <a:off x="6263640" y="3337560"/>
            <a:ext cx="5440680" cy="1417320"/>
          </a:xfrm>
          <a:prstGeom prst="roundRect">
            <a:avLst>
              <a:gd name="adj" fmla="val 5161"/>
            </a:avLst>
          </a:prstGeom>
          <a:solidFill>
            <a:srgbClr val="F4F8FA"/>
          </a:solidFill>
          <a:ln w="12700">
            <a:solidFill>
              <a:srgbClr val="E3E8EA"/>
            </a:solidFill>
            <a:prstDash val="solid"/>
          </a:ln>
        </p:spPr>
      </p:sp>
      <p:sp>
        <p:nvSpPr>
          <p:cNvPr id="20" name="Shape 18"/>
          <p:cNvSpPr/>
          <p:nvPr/>
        </p:nvSpPr>
        <p:spPr>
          <a:xfrm>
            <a:off x="6464808" y="3520440"/>
            <a:ext cx="502920" cy="502920"/>
          </a:xfrm>
          <a:prstGeom prst="ellipse">
            <a:avLst/>
          </a:prstGeom>
          <a:solidFill>
            <a:srgbClr val="065A82"/>
          </a:solidFill>
          <a:ln/>
        </p:spPr>
      </p:sp>
      <p:sp>
        <p:nvSpPr>
          <p:cNvPr id="21" name="Text 19"/>
          <p:cNvSpPr txBox="1"/>
          <p:nvPr/>
        </p:nvSpPr>
        <p:spPr>
          <a:xfrm>
            <a:off x="6464808" y="35204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7132320" y="348386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Split Data</a:t>
            </a:r>
            <a:endParaRPr lang="en-US" sz="1400" dirty="0"/>
          </a:p>
        </p:txBody>
      </p:sp>
      <p:sp>
        <p:nvSpPr>
          <p:cNvPr id="23" name="Text 21"/>
          <p:cNvSpPr txBox="1"/>
          <p:nvPr/>
        </p:nvSpPr>
        <p:spPr>
          <a:xfrm>
            <a:off x="7132320" y="386791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Divide into training and testing sets (e.g. 70% / 30%).</a:t>
            </a:r>
            <a:endParaRPr lang="en-US" sz="1150" dirty="0"/>
          </a:p>
        </p:txBody>
      </p:sp>
      <p:sp>
        <p:nvSpPr>
          <p:cNvPr id="24" name="Shape 22"/>
          <p:cNvSpPr/>
          <p:nvPr/>
        </p:nvSpPr>
        <p:spPr>
          <a:xfrm>
            <a:off x="548640" y="4983480"/>
            <a:ext cx="5440680" cy="1417320"/>
          </a:xfrm>
          <a:prstGeom prst="roundRect">
            <a:avLst>
              <a:gd name="adj" fmla="val 5161"/>
            </a:avLst>
          </a:prstGeom>
          <a:solidFill>
            <a:srgbClr val="F4F8FA"/>
          </a:solidFill>
          <a:ln w="12700">
            <a:solidFill>
              <a:srgbClr val="E3E8EA"/>
            </a:solidFill>
            <a:prstDash val="solid"/>
          </a:ln>
        </p:spPr>
      </p:sp>
      <p:sp>
        <p:nvSpPr>
          <p:cNvPr id="25" name="Shape 23"/>
          <p:cNvSpPr/>
          <p:nvPr/>
        </p:nvSpPr>
        <p:spPr>
          <a:xfrm>
            <a:off x="749808" y="5166360"/>
            <a:ext cx="502920" cy="502920"/>
          </a:xfrm>
          <a:prstGeom prst="ellipse">
            <a:avLst/>
          </a:prstGeom>
          <a:solidFill>
            <a:srgbClr val="065A82"/>
          </a:solidFill>
          <a:ln/>
        </p:spPr>
      </p:sp>
      <p:sp>
        <p:nvSpPr>
          <p:cNvPr id="26" name="Text 24"/>
          <p:cNvSpPr txBox="1"/>
          <p:nvPr/>
        </p:nvSpPr>
        <p:spPr>
          <a:xfrm>
            <a:off x="749808" y="5166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txBox="1"/>
          <p:nvPr/>
        </p:nvSpPr>
        <p:spPr>
          <a:xfrm>
            <a:off x="1417320" y="512978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Build &amp; Train Model</a:t>
            </a:r>
            <a:endParaRPr lang="en-US" sz="1400" dirty="0"/>
          </a:p>
        </p:txBody>
      </p:sp>
      <p:sp>
        <p:nvSpPr>
          <p:cNvPr id="28" name="Text 26"/>
          <p:cNvSpPr txBox="1"/>
          <p:nvPr/>
        </p:nvSpPr>
        <p:spPr>
          <a:xfrm>
            <a:off x="1417320" y="551383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Define LSTM architecture and train on the training sequences.</a:t>
            </a:r>
            <a:endParaRPr lang="en-US" sz="1150" dirty="0"/>
          </a:p>
        </p:txBody>
      </p:sp>
      <p:sp>
        <p:nvSpPr>
          <p:cNvPr id="29" name="Shape 27"/>
          <p:cNvSpPr/>
          <p:nvPr/>
        </p:nvSpPr>
        <p:spPr>
          <a:xfrm>
            <a:off x="6263640" y="4983480"/>
            <a:ext cx="5440680" cy="1417320"/>
          </a:xfrm>
          <a:prstGeom prst="roundRect">
            <a:avLst>
              <a:gd name="adj" fmla="val 5161"/>
            </a:avLst>
          </a:prstGeom>
          <a:solidFill>
            <a:srgbClr val="F4F8FA"/>
          </a:solidFill>
          <a:ln w="12700">
            <a:solidFill>
              <a:srgbClr val="E3E8EA"/>
            </a:solidFill>
            <a:prstDash val="solid"/>
          </a:ln>
        </p:spPr>
      </p:sp>
      <p:sp>
        <p:nvSpPr>
          <p:cNvPr id="30" name="Shape 28"/>
          <p:cNvSpPr/>
          <p:nvPr/>
        </p:nvSpPr>
        <p:spPr>
          <a:xfrm>
            <a:off x="6464808" y="5166360"/>
            <a:ext cx="502920" cy="502920"/>
          </a:xfrm>
          <a:prstGeom prst="ellipse">
            <a:avLst/>
          </a:prstGeom>
          <a:solidFill>
            <a:srgbClr val="065A82"/>
          </a:solidFill>
          <a:ln/>
        </p:spPr>
      </p:sp>
      <p:sp>
        <p:nvSpPr>
          <p:cNvPr id="31" name="Text 29"/>
          <p:cNvSpPr txBox="1"/>
          <p:nvPr/>
        </p:nvSpPr>
        <p:spPr>
          <a:xfrm>
            <a:off x="6464808" y="5166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txBox="1"/>
          <p:nvPr/>
        </p:nvSpPr>
        <p:spPr>
          <a:xfrm>
            <a:off x="7132320" y="5129784"/>
            <a:ext cx="4389120" cy="3657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Predict &amp; Evaluate</a:t>
            </a:r>
            <a:endParaRPr lang="en-US" sz="1400" dirty="0"/>
          </a:p>
        </p:txBody>
      </p:sp>
      <p:sp>
        <p:nvSpPr>
          <p:cNvPr id="33" name="Text 31"/>
          <p:cNvSpPr txBox="1"/>
          <p:nvPr/>
        </p:nvSpPr>
        <p:spPr>
          <a:xfrm>
            <a:off x="7132320" y="5513832"/>
            <a:ext cx="4389120" cy="7772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Forecast test prices and evaluate using RMSE / MAE / MAPE.</a:t>
            </a:r>
            <a:endParaRPr lang="en-US" sz="1150" dirty="0"/>
          </a:p>
        </p:txBody>
      </p:sp>
      <p:sp>
        <p:nvSpPr>
          <p:cNvPr id="34" name="Text 3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Actual vs. Predicted Prices (Sample)</a:t>
            </a:r>
            <a:endParaRPr lang="en-US" sz="3000" dirty="0"/>
          </a:p>
        </p:txBody>
      </p:sp>
      <p:graphicFrame>
        <p:nvGraphicFramePr>
          <p:cNvPr id="4" name="Chart 0" descr=""/>
          <p:cNvGraphicFramePr/>
          <p:nvPr/>
        </p:nvGraphicFramePr>
        <p:xfrm>
          <a:off x="548640" y="160020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920240"/>
            <a:ext cx="4069080" cy="1051560"/>
          </a:xfrm>
          <a:prstGeom prst="roundRect">
            <a:avLst>
              <a:gd name="adj" fmla="val 8696"/>
            </a:avLst>
          </a:prstGeom>
          <a:solidFill>
            <a:srgbClr val="F4F8FA"/>
          </a:solidFill>
          <a:ln w="12700">
            <a:solidFill>
              <a:srgbClr val="E3E8EA"/>
            </a:solidFill>
            <a:prstDash val="solid"/>
          </a:ln>
        </p:spPr>
      </p:sp>
      <p:sp>
        <p:nvSpPr>
          <p:cNvPr id="6" name="Text 3"/>
          <p:cNvSpPr txBox="1"/>
          <p:nvPr/>
        </p:nvSpPr>
        <p:spPr>
          <a:xfrm>
            <a:off x="7772400" y="2029968"/>
            <a:ext cx="1645920" cy="822960"/>
          </a:xfrm>
          <a:prstGeom prst="rect">
            <a:avLst/>
          </a:prstGeom>
          <a:noFill/>
          <a:ln/>
        </p:spPr>
        <p:txBody>
          <a:bodyPr wrap="square" rtlCol="0" anchor="ctr"/>
          <a:lstStyle/>
          <a:p>
            <a:pPr indent="0" marL="0">
              <a:buNone/>
            </a:pPr>
            <a:r>
              <a:rPr lang="en-US" sz="2800" b="1" dirty="0">
                <a:solidFill>
                  <a:srgbClr val="1C7293"/>
                </a:solidFill>
                <a:latin typeface="Cambria" pitchFamily="34" charset="0"/>
                <a:ea typeface="Cambria" pitchFamily="34" charset="-122"/>
                <a:cs typeface="Cambria" pitchFamily="34" charset="-120"/>
              </a:rPr>
              <a:t>3.42</a:t>
            </a:r>
            <a:endParaRPr lang="en-US" sz="2800" dirty="0"/>
          </a:p>
        </p:txBody>
      </p:sp>
      <p:sp>
        <p:nvSpPr>
          <p:cNvPr id="7" name="Text 4"/>
          <p:cNvSpPr txBox="1"/>
          <p:nvPr/>
        </p:nvSpPr>
        <p:spPr>
          <a:xfrm>
            <a:off x="9418320" y="2029968"/>
            <a:ext cx="2011680" cy="822960"/>
          </a:xfrm>
          <a:prstGeom prst="rect">
            <a:avLst/>
          </a:prstGeom>
          <a:noFill/>
          <a:ln/>
        </p:spPr>
        <p:txBody>
          <a:bodyPr wrap="square" rtlCol="0" anchor="ctr"/>
          <a:lstStyle/>
          <a:p>
            <a:pPr indent="0" marL="0">
              <a:buNone/>
            </a:pPr>
            <a:r>
              <a:rPr lang="en-US" sz="1300" dirty="0">
                <a:solidFill>
                  <a:srgbClr val="5B6B79"/>
                </a:solidFill>
                <a:latin typeface="Calibri" pitchFamily="34" charset="0"/>
                <a:ea typeface="Calibri" pitchFamily="34" charset="-122"/>
                <a:cs typeface="Calibri" pitchFamily="34" charset="-120"/>
              </a:rPr>
              <a:t>RMSE</a:t>
            </a:r>
            <a:endParaRPr lang="en-US" sz="1300" dirty="0"/>
          </a:p>
        </p:txBody>
      </p:sp>
      <p:sp>
        <p:nvSpPr>
          <p:cNvPr id="8" name="Shape 5"/>
          <p:cNvSpPr/>
          <p:nvPr/>
        </p:nvSpPr>
        <p:spPr>
          <a:xfrm>
            <a:off x="7543800" y="3154680"/>
            <a:ext cx="4069080" cy="1051560"/>
          </a:xfrm>
          <a:prstGeom prst="roundRect">
            <a:avLst>
              <a:gd name="adj" fmla="val 8696"/>
            </a:avLst>
          </a:prstGeom>
          <a:solidFill>
            <a:srgbClr val="F4F8FA"/>
          </a:solidFill>
          <a:ln w="12700">
            <a:solidFill>
              <a:srgbClr val="E3E8EA"/>
            </a:solidFill>
            <a:prstDash val="solid"/>
          </a:ln>
        </p:spPr>
      </p:sp>
      <p:sp>
        <p:nvSpPr>
          <p:cNvPr id="9" name="Text 6"/>
          <p:cNvSpPr txBox="1"/>
          <p:nvPr/>
        </p:nvSpPr>
        <p:spPr>
          <a:xfrm>
            <a:off x="7772400" y="3264408"/>
            <a:ext cx="1645920" cy="822960"/>
          </a:xfrm>
          <a:prstGeom prst="rect">
            <a:avLst/>
          </a:prstGeom>
          <a:noFill/>
          <a:ln/>
        </p:spPr>
        <p:txBody>
          <a:bodyPr wrap="square" rtlCol="0" anchor="ctr"/>
          <a:lstStyle/>
          <a:p>
            <a:pPr indent="0" marL="0">
              <a:buNone/>
            </a:pPr>
            <a:r>
              <a:rPr lang="en-US" sz="2800" b="1" dirty="0">
                <a:solidFill>
                  <a:srgbClr val="1C7293"/>
                </a:solidFill>
                <a:latin typeface="Cambria" pitchFamily="34" charset="0"/>
                <a:ea typeface="Cambria" pitchFamily="34" charset="-122"/>
                <a:cs typeface="Cambria" pitchFamily="34" charset="-120"/>
              </a:rPr>
              <a:t>2.87</a:t>
            </a:r>
            <a:endParaRPr lang="en-US" sz="2800" dirty="0"/>
          </a:p>
        </p:txBody>
      </p:sp>
      <p:sp>
        <p:nvSpPr>
          <p:cNvPr id="10" name="Text 7"/>
          <p:cNvSpPr txBox="1"/>
          <p:nvPr/>
        </p:nvSpPr>
        <p:spPr>
          <a:xfrm>
            <a:off x="9418320" y="3264408"/>
            <a:ext cx="2011680" cy="822960"/>
          </a:xfrm>
          <a:prstGeom prst="rect">
            <a:avLst/>
          </a:prstGeom>
          <a:noFill/>
          <a:ln/>
        </p:spPr>
        <p:txBody>
          <a:bodyPr wrap="square" rtlCol="0" anchor="ctr"/>
          <a:lstStyle/>
          <a:p>
            <a:pPr indent="0" marL="0">
              <a:buNone/>
            </a:pPr>
            <a:r>
              <a:rPr lang="en-US" sz="1300" dirty="0">
                <a:solidFill>
                  <a:srgbClr val="5B6B79"/>
                </a:solidFill>
                <a:latin typeface="Calibri" pitchFamily="34" charset="0"/>
                <a:ea typeface="Calibri" pitchFamily="34" charset="-122"/>
                <a:cs typeface="Calibri" pitchFamily="34" charset="-120"/>
              </a:rPr>
              <a:t>MAE</a:t>
            </a:r>
            <a:endParaRPr lang="en-US" sz="1300" dirty="0"/>
          </a:p>
        </p:txBody>
      </p:sp>
      <p:sp>
        <p:nvSpPr>
          <p:cNvPr id="11" name="Shape 8"/>
          <p:cNvSpPr/>
          <p:nvPr/>
        </p:nvSpPr>
        <p:spPr>
          <a:xfrm>
            <a:off x="7543800" y="4389120"/>
            <a:ext cx="4069080" cy="1051560"/>
          </a:xfrm>
          <a:prstGeom prst="roundRect">
            <a:avLst>
              <a:gd name="adj" fmla="val 8696"/>
            </a:avLst>
          </a:prstGeom>
          <a:solidFill>
            <a:srgbClr val="F4F8FA"/>
          </a:solidFill>
          <a:ln w="12700">
            <a:solidFill>
              <a:srgbClr val="E3E8EA"/>
            </a:solidFill>
            <a:prstDash val="solid"/>
          </a:ln>
        </p:spPr>
      </p:sp>
      <p:sp>
        <p:nvSpPr>
          <p:cNvPr id="12" name="Text 9"/>
          <p:cNvSpPr txBox="1"/>
          <p:nvPr/>
        </p:nvSpPr>
        <p:spPr>
          <a:xfrm>
            <a:off x="7772400" y="4498848"/>
            <a:ext cx="1645920" cy="822960"/>
          </a:xfrm>
          <a:prstGeom prst="rect">
            <a:avLst/>
          </a:prstGeom>
          <a:noFill/>
          <a:ln/>
        </p:spPr>
        <p:txBody>
          <a:bodyPr wrap="square" rtlCol="0" anchor="ctr"/>
          <a:lstStyle/>
          <a:p>
            <a:pPr indent="0" marL="0">
              <a:buNone/>
            </a:pPr>
            <a:r>
              <a:rPr lang="en-US" sz="2800" b="1" dirty="0">
                <a:solidFill>
                  <a:srgbClr val="1C7293"/>
                </a:solidFill>
                <a:latin typeface="Cambria" pitchFamily="34" charset="0"/>
                <a:ea typeface="Cambria" pitchFamily="34" charset="-122"/>
                <a:cs typeface="Cambria" pitchFamily="34" charset="-120"/>
              </a:rPr>
              <a:t>2.1%</a:t>
            </a:r>
            <a:endParaRPr lang="en-US" sz="2800" dirty="0"/>
          </a:p>
        </p:txBody>
      </p:sp>
      <p:sp>
        <p:nvSpPr>
          <p:cNvPr id="13" name="Text 10"/>
          <p:cNvSpPr txBox="1"/>
          <p:nvPr/>
        </p:nvSpPr>
        <p:spPr>
          <a:xfrm>
            <a:off x="9418320" y="4498848"/>
            <a:ext cx="2011680" cy="822960"/>
          </a:xfrm>
          <a:prstGeom prst="rect">
            <a:avLst/>
          </a:prstGeom>
          <a:noFill/>
          <a:ln/>
        </p:spPr>
        <p:txBody>
          <a:bodyPr wrap="square" rtlCol="0" anchor="ctr"/>
          <a:lstStyle/>
          <a:p>
            <a:pPr indent="0" marL="0">
              <a:buNone/>
            </a:pPr>
            <a:r>
              <a:rPr lang="en-US" sz="1300" dirty="0">
                <a:solidFill>
                  <a:srgbClr val="5B6B79"/>
                </a:solidFill>
                <a:latin typeface="Calibri" pitchFamily="34" charset="0"/>
                <a:ea typeface="Calibri" pitchFamily="34" charset="-122"/>
                <a:cs typeface="Calibri" pitchFamily="34" charset="-120"/>
              </a:rPr>
              <a:t>MAPE</a:t>
            </a:r>
            <a:endParaRPr lang="en-US" sz="1300" dirty="0"/>
          </a:p>
        </p:txBody>
      </p:sp>
      <p:sp>
        <p:nvSpPr>
          <p:cNvPr id="14" name="Text 11"/>
          <p:cNvSpPr txBox="1"/>
          <p:nvPr/>
        </p:nvSpPr>
        <p:spPr>
          <a:xfrm>
            <a:off x="7543800" y="5623560"/>
            <a:ext cx="4069080" cy="731520"/>
          </a:xfrm>
          <a:prstGeom prst="rect">
            <a:avLst/>
          </a:prstGeom>
          <a:noFill/>
          <a:ln/>
        </p:spPr>
        <p:txBody>
          <a:bodyPr wrap="square"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Lower RMSE / MAE / MAPE values indicate the model's predictions are closer to actual market prices.</a:t>
            </a:r>
            <a:endParaRPr lang="en-US" sz="1100" dirty="0"/>
          </a:p>
        </p:txBody>
      </p:sp>
      <p:sp>
        <p:nvSpPr>
          <p:cNvPr id="15" name="Text 1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APPLICATIONS</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Advantages &amp; Real-World Applications</a:t>
            </a:r>
            <a:endParaRPr lang="en-US" sz="3000" dirty="0"/>
          </a:p>
        </p:txBody>
      </p:sp>
      <p:sp>
        <p:nvSpPr>
          <p:cNvPr id="4" name="Text 2"/>
          <p:cNvSpPr txBox="1"/>
          <p:nvPr/>
        </p:nvSpPr>
        <p:spPr>
          <a:xfrm>
            <a:off x="548640" y="1280160"/>
            <a:ext cx="4572000" cy="320040"/>
          </a:xfrm>
          <a:prstGeom prst="rect">
            <a:avLst/>
          </a:prstGeom>
          <a:noFill/>
          <a:ln/>
        </p:spPr>
        <p:txBody>
          <a:bodyPr wrap="square" rtlCol="0" anchor="ctr"/>
          <a:lstStyle/>
          <a:p>
            <a:pPr indent="0" marL="0">
              <a:buNone/>
            </a:pPr>
            <a:r>
              <a:rPr lang="en-US" sz="1200" b="1" spc="100" kern="0" dirty="0">
                <a:solidFill>
                  <a:srgbClr val="F2A541"/>
                </a:solidFill>
                <a:latin typeface="Calibri" pitchFamily="34" charset="0"/>
                <a:ea typeface="Calibri" pitchFamily="34" charset="-122"/>
                <a:cs typeface="Calibri" pitchFamily="34" charset="-120"/>
              </a:rPr>
              <a:t>BENEFITS</a:t>
            </a:r>
            <a:endParaRPr lang="en-US" sz="1200" dirty="0"/>
          </a:p>
        </p:txBody>
      </p:sp>
      <p:sp>
        <p:nvSpPr>
          <p:cNvPr id="5" name="Text 3"/>
          <p:cNvSpPr txBox="1"/>
          <p:nvPr/>
        </p:nvSpPr>
        <p:spPr>
          <a:xfrm>
            <a:off x="6309360" y="1280160"/>
            <a:ext cx="4572000" cy="320040"/>
          </a:xfrm>
          <a:prstGeom prst="rect">
            <a:avLst/>
          </a:prstGeom>
          <a:noFill/>
          <a:ln/>
        </p:spPr>
        <p:txBody>
          <a:bodyPr wrap="square" rtlCol="0" anchor="ctr"/>
          <a:lstStyle/>
          <a:p>
            <a:pPr indent="0" marL="0">
              <a:buNone/>
            </a:pPr>
            <a:r>
              <a:rPr lang="en-US" sz="1200" b="1" spc="100" kern="0" dirty="0">
                <a:solidFill>
                  <a:srgbClr val="F2A541"/>
                </a:solidFill>
                <a:latin typeface="Calibri" pitchFamily="34" charset="0"/>
                <a:ea typeface="Calibri" pitchFamily="34" charset="-122"/>
                <a:cs typeface="Calibri" pitchFamily="34" charset="-120"/>
              </a:rPr>
              <a:t>USE CASES</a:t>
            </a:r>
            <a:endParaRPr lang="en-US" sz="1200" dirty="0"/>
          </a:p>
        </p:txBody>
      </p:sp>
      <p:sp>
        <p:nvSpPr>
          <p:cNvPr id="6" name="Shape 4"/>
          <p:cNvSpPr/>
          <p:nvPr/>
        </p:nvSpPr>
        <p:spPr>
          <a:xfrm>
            <a:off x="548640" y="1691640"/>
            <a:ext cx="384048" cy="384048"/>
          </a:xfrm>
          <a:prstGeom prst="ellipse">
            <a:avLst/>
          </a:prstGeom>
          <a:solidFill>
            <a:srgbClr val="1C7293"/>
          </a:solidFill>
          <a:ln/>
        </p:spPr>
      </p:sp>
      <p:sp>
        <p:nvSpPr>
          <p:cNvPr id="7" name="Text 5"/>
          <p:cNvSpPr txBox="1"/>
          <p:nvPr/>
        </p:nvSpPr>
        <p:spPr>
          <a:xfrm>
            <a:off x="548640" y="169164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txBox="1"/>
          <p:nvPr/>
        </p:nvSpPr>
        <p:spPr>
          <a:xfrm>
            <a:off x="1097280" y="166420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Faster Decision-Making</a:t>
            </a:r>
            <a:endParaRPr lang="en-US" sz="1400" dirty="0"/>
          </a:p>
        </p:txBody>
      </p:sp>
      <p:sp>
        <p:nvSpPr>
          <p:cNvPr id="9" name="Text 7"/>
          <p:cNvSpPr txBox="1"/>
          <p:nvPr/>
        </p:nvSpPr>
        <p:spPr>
          <a:xfrm>
            <a:off x="1097280" y="200253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Automated forecasts save analysts hours of manual chart study.</a:t>
            </a:r>
            <a:endParaRPr lang="en-US" sz="1150" dirty="0"/>
          </a:p>
        </p:txBody>
      </p:sp>
      <p:sp>
        <p:nvSpPr>
          <p:cNvPr id="10" name="Shape 8"/>
          <p:cNvSpPr/>
          <p:nvPr/>
        </p:nvSpPr>
        <p:spPr>
          <a:xfrm>
            <a:off x="548640" y="2743200"/>
            <a:ext cx="384048" cy="384048"/>
          </a:xfrm>
          <a:prstGeom prst="ellipse">
            <a:avLst/>
          </a:prstGeom>
          <a:solidFill>
            <a:srgbClr val="1C7293"/>
          </a:solidFill>
          <a:ln/>
        </p:spPr>
      </p:sp>
      <p:sp>
        <p:nvSpPr>
          <p:cNvPr id="11" name="Text 9"/>
          <p:cNvSpPr txBox="1"/>
          <p:nvPr/>
        </p:nvSpPr>
        <p:spPr>
          <a:xfrm>
            <a:off x="548640" y="274320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097280" y="271576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Pattern Detection</a:t>
            </a:r>
            <a:endParaRPr lang="en-US" sz="1400" dirty="0"/>
          </a:p>
        </p:txBody>
      </p:sp>
      <p:sp>
        <p:nvSpPr>
          <p:cNvPr id="13" name="Text 11"/>
          <p:cNvSpPr txBox="1"/>
          <p:nvPr/>
        </p:nvSpPr>
        <p:spPr>
          <a:xfrm>
            <a:off x="1097280" y="305409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Identifies subtle trends invisible to manual analysis.</a:t>
            </a:r>
            <a:endParaRPr lang="en-US" sz="1150" dirty="0"/>
          </a:p>
        </p:txBody>
      </p:sp>
      <p:sp>
        <p:nvSpPr>
          <p:cNvPr id="14" name="Shape 12"/>
          <p:cNvSpPr/>
          <p:nvPr/>
        </p:nvSpPr>
        <p:spPr>
          <a:xfrm>
            <a:off x="548640" y="3794760"/>
            <a:ext cx="384048" cy="384048"/>
          </a:xfrm>
          <a:prstGeom prst="ellipse">
            <a:avLst/>
          </a:prstGeom>
          <a:solidFill>
            <a:srgbClr val="1C7293"/>
          </a:solidFill>
          <a:ln/>
        </p:spPr>
      </p:sp>
      <p:sp>
        <p:nvSpPr>
          <p:cNvPr id="15" name="Text 13"/>
          <p:cNvSpPr txBox="1"/>
          <p:nvPr/>
        </p:nvSpPr>
        <p:spPr>
          <a:xfrm>
            <a:off x="548640" y="379476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097280" y="376732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Scalable</a:t>
            </a:r>
            <a:endParaRPr lang="en-US" sz="1400" dirty="0"/>
          </a:p>
        </p:txBody>
      </p:sp>
      <p:sp>
        <p:nvSpPr>
          <p:cNvPr id="17" name="Text 15"/>
          <p:cNvSpPr txBox="1"/>
          <p:nvPr/>
        </p:nvSpPr>
        <p:spPr>
          <a:xfrm>
            <a:off x="1097280" y="410565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Same model architecture can be applied across many stocks.</a:t>
            </a:r>
            <a:endParaRPr lang="en-US" sz="1150" dirty="0"/>
          </a:p>
        </p:txBody>
      </p:sp>
      <p:sp>
        <p:nvSpPr>
          <p:cNvPr id="18" name="Shape 16"/>
          <p:cNvSpPr/>
          <p:nvPr/>
        </p:nvSpPr>
        <p:spPr>
          <a:xfrm>
            <a:off x="6309360" y="1691640"/>
            <a:ext cx="384048" cy="384048"/>
          </a:xfrm>
          <a:prstGeom prst="ellipse">
            <a:avLst/>
          </a:prstGeom>
          <a:solidFill>
            <a:srgbClr val="065A82"/>
          </a:solidFill>
          <a:ln/>
        </p:spPr>
      </p:sp>
      <p:sp>
        <p:nvSpPr>
          <p:cNvPr id="19" name="Text 17"/>
          <p:cNvSpPr txBox="1"/>
          <p:nvPr/>
        </p:nvSpPr>
        <p:spPr>
          <a:xfrm>
            <a:off x="6309360" y="169164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6858000" y="166420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Algorithmic Trading</a:t>
            </a:r>
            <a:endParaRPr lang="en-US" sz="1400" dirty="0"/>
          </a:p>
        </p:txBody>
      </p:sp>
      <p:sp>
        <p:nvSpPr>
          <p:cNvPr id="21" name="Text 19"/>
          <p:cNvSpPr txBox="1"/>
          <p:nvPr/>
        </p:nvSpPr>
        <p:spPr>
          <a:xfrm>
            <a:off x="6858000" y="200253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Powers automated trading bots and strategies.</a:t>
            </a:r>
            <a:endParaRPr lang="en-US" sz="1150" dirty="0"/>
          </a:p>
        </p:txBody>
      </p:sp>
      <p:sp>
        <p:nvSpPr>
          <p:cNvPr id="22" name="Shape 20"/>
          <p:cNvSpPr/>
          <p:nvPr/>
        </p:nvSpPr>
        <p:spPr>
          <a:xfrm>
            <a:off x="6309360" y="2743200"/>
            <a:ext cx="384048" cy="384048"/>
          </a:xfrm>
          <a:prstGeom prst="ellipse">
            <a:avLst/>
          </a:prstGeom>
          <a:solidFill>
            <a:srgbClr val="065A82"/>
          </a:solidFill>
          <a:ln/>
        </p:spPr>
      </p:sp>
      <p:sp>
        <p:nvSpPr>
          <p:cNvPr id="23" name="Text 21"/>
          <p:cNvSpPr txBox="1"/>
          <p:nvPr/>
        </p:nvSpPr>
        <p:spPr>
          <a:xfrm>
            <a:off x="6309360" y="274320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6858000" y="271576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Portfolio Management</a:t>
            </a:r>
            <a:endParaRPr lang="en-US" sz="1400" dirty="0"/>
          </a:p>
        </p:txBody>
      </p:sp>
      <p:sp>
        <p:nvSpPr>
          <p:cNvPr id="25" name="Text 23"/>
          <p:cNvSpPr txBox="1"/>
          <p:nvPr/>
        </p:nvSpPr>
        <p:spPr>
          <a:xfrm>
            <a:off x="6858000" y="305409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Assists in risk assessment and asset allocation.</a:t>
            </a:r>
            <a:endParaRPr lang="en-US" sz="1150" dirty="0"/>
          </a:p>
        </p:txBody>
      </p:sp>
      <p:sp>
        <p:nvSpPr>
          <p:cNvPr id="26" name="Shape 24"/>
          <p:cNvSpPr/>
          <p:nvPr/>
        </p:nvSpPr>
        <p:spPr>
          <a:xfrm>
            <a:off x="6309360" y="3794760"/>
            <a:ext cx="384048" cy="384048"/>
          </a:xfrm>
          <a:prstGeom prst="ellipse">
            <a:avLst/>
          </a:prstGeom>
          <a:solidFill>
            <a:srgbClr val="065A82"/>
          </a:solidFill>
          <a:ln/>
        </p:spPr>
      </p:sp>
      <p:sp>
        <p:nvSpPr>
          <p:cNvPr id="27" name="Text 25"/>
          <p:cNvSpPr txBox="1"/>
          <p:nvPr/>
        </p:nvSpPr>
        <p:spPr>
          <a:xfrm>
            <a:off x="6309360" y="379476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6858000" y="3767328"/>
            <a:ext cx="475488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Investor Insight Tools</a:t>
            </a:r>
            <a:endParaRPr lang="en-US" sz="1400" dirty="0"/>
          </a:p>
        </p:txBody>
      </p:sp>
      <p:sp>
        <p:nvSpPr>
          <p:cNvPr id="29" name="Text 27"/>
          <p:cNvSpPr txBox="1"/>
          <p:nvPr/>
        </p:nvSpPr>
        <p:spPr>
          <a:xfrm>
            <a:off x="6858000" y="4105656"/>
            <a:ext cx="4754880" cy="548640"/>
          </a:xfrm>
          <a:prstGeom prst="rect">
            <a:avLst/>
          </a:prstGeom>
          <a:noFill/>
          <a:ln/>
        </p:spPr>
        <p:txBody>
          <a:bodyPr wrap="square" rtlCol="0" anchor="ctr"/>
          <a:lstStyle/>
          <a:p>
            <a:pPr indent="0" marL="0">
              <a:buNone/>
            </a:pPr>
            <a:r>
              <a:rPr lang="en-US" sz="1150" dirty="0">
                <a:solidFill>
                  <a:srgbClr val="5B6B79"/>
                </a:solidFill>
                <a:latin typeface="Calibri" pitchFamily="34" charset="0"/>
                <a:ea typeface="Calibri" pitchFamily="34" charset="-122"/>
                <a:cs typeface="Calibri" pitchFamily="34" charset="-120"/>
              </a:rPr>
              <a:t>Feeds dashboards and apps used by retail investors.</a:t>
            </a:r>
            <a:endParaRPr lang="en-US" sz="1150" dirty="0"/>
          </a:p>
        </p:txBody>
      </p:sp>
      <p:sp>
        <p:nvSpPr>
          <p:cNvPr id="30" name="Shape 28"/>
          <p:cNvSpPr/>
          <p:nvPr/>
        </p:nvSpPr>
        <p:spPr>
          <a:xfrm>
            <a:off x="6080760" y="1280160"/>
            <a:ext cx="0" cy="3749040"/>
          </a:xfrm>
          <a:prstGeom prst="line">
            <a:avLst/>
          </a:prstGeom>
          <a:noFill/>
          <a:ln w="12700">
            <a:solidFill>
              <a:srgbClr val="E3E8EA"/>
            </a:solidFill>
            <a:prstDash val="solid"/>
          </a:ln>
        </p:spPr>
      </p:sp>
      <p:sp>
        <p:nvSpPr>
          <p:cNvPr id="31" name="Text 29"/>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LIMITATIONS &amp; FUTURE SCOPE</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Challenges &amp; What's Next</a:t>
            </a:r>
            <a:endParaRPr lang="en-US" sz="3000" dirty="0"/>
          </a:p>
        </p:txBody>
      </p:sp>
      <p:sp>
        <p:nvSpPr>
          <p:cNvPr id="4" name="Text 2"/>
          <p:cNvSpPr txBox="1"/>
          <p:nvPr/>
        </p:nvSpPr>
        <p:spPr>
          <a:xfrm>
            <a:off x="548640" y="1463040"/>
            <a:ext cx="5303520" cy="320040"/>
          </a:xfrm>
          <a:prstGeom prst="rect">
            <a:avLst/>
          </a:prstGeom>
          <a:noFill/>
          <a:ln/>
        </p:spPr>
        <p:txBody>
          <a:bodyPr wrap="square" rtlCol="0" anchor="ctr"/>
          <a:lstStyle/>
          <a:p>
            <a:pPr indent="0" marL="0">
              <a:buNone/>
            </a:pPr>
            <a:r>
              <a:rPr lang="en-US" sz="1300" b="1" spc="100" kern="0" dirty="0">
                <a:solidFill>
                  <a:srgbClr val="D64545"/>
                </a:solidFill>
                <a:latin typeface="Calibri" pitchFamily="34" charset="0"/>
                <a:ea typeface="Calibri" pitchFamily="34" charset="-122"/>
                <a:cs typeface="Calibri" pitchFamily="34" charset="-120"/>
              </a:rPr>
              <a:t>CURRENT LIMITATIONS</a:t>
            </a:r>
            <a:endParaRPr lang="en-US" sz="1300" dirty="0"/>
          </a:p>
        </p:txBody>
      </p:sp>
      <p:sp>
        <p:nvSpPr>
          <p:cNvPr id="5" name="Text 3"/>
          <p:cNvSpPr txBox="1"/>
          <p:nvPr/>
        </p:nvSpPr>
        <p:spPr>
          <a:xfrm>
            <a:off x="548640" y="19202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Cannot predict sudden market shocks or unexpected news events</a:t>
            </a:r>
            <a:endParaRPr lang="en-US" sz="1300" dirty="0"/>
          </a:p>
        </p:txBody>
      </p:sp>
      <p:sp>
        <p:nvSpPr>
          <p:cNvPr id="6" name="Text 4"/>
          <p:cNvSpPr txBox="1"/>
          <p:nvPr/>
        </p:nvSpPr>
        <p:spPr>
          <a:xfrm>
            <a:off x="548640" y="26060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Model accuracy depends heavily on data quality and quantity</a:t>
            </a:r>
            <a:endParaRPr lang="en-US" sz="1300" dirty="0"/>
          </a:p>
        </p:txBody>
      </p:sp>
      <p:sp>
        <p:nvSpPr>
          <p:cNvPr id="7" name="Text 5"/>
          <p:cNvSpPr txBox="1"/>
          <p:nvPr/>
        </p:nvSpPr>
        <p:spPr>
          <a:xfrm>
            <a:off x="548640" y="32918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Does not account for investor sentiment or macroeconomic shifts</a:t>
            </a:r>
            <a:endParaRPr lang="en-US" sz="1300" dirty="0"/>
          </a:p>
        </p:txBody>
      </p:sp>
      <p:sp>
        <p:nvSpPr>
          <p:cNvPr id="8" name="Text 6"/>
          <p:cNvSpPr txBox="1"/>
          <p:nvPr/>
        </p:nvSpPr>
        <p:spPr>
          <a:xfrm>
            <a:off x="6309360" y="1463040"/>
            <a:ext cx="5303520" cy="320040"/>
          </a:xfrm>
          <a:prstGeom prst="rect">
            <a:avLst/>
          </a:prstGeom>
          <a:noFill/>
          <a:ln/>
        </p:spPr>
        <p:txBody>
          <a:bodyPr wrap="square" rtlCol="0" anchor="ctr"/>
          <a:lstStyle/>
          <a:p>
            <a:pPr indent="0" marL="0">
              <a:buNone/>
            </a:pPr>
            <a:r>
              <a:rPr lang="en-US" sz="1300" b="1" spc="100" kern="0" dirty="0">
                <a:solidFill>
                  <a:srgbClr val="1FA774"/>
                </a:solidFill>
                <a:latin typeface="Calibri" pitchFamily="34" charset="0"/>
                <a:ea typeface="Calibri" pitchFamily="34" charset="-122"/>
                <a:cs typeface="Calibri" pitchFamily="34" charset="-120"/>
              </a:rPr>
              <a:t>FUTURE ENHANCEMENTS</a:t>
            </a:r>
            <a:endParaRPr lang="en-US" sz="1300" dirty="0"/>
          </a:p>
        </p:txBody>
      </p:sp>
      <p:sp>
        <p:nvSpPr>
          <p:cNvPr id="9" name="Text 7"/>
          <p:cNvSpPr txBox="1"/>
          <p:nvPr/>
        </p:nvSpPr>
        <p:spPr>
          <a:xfrm>
            <a:off x="6309360" y="19202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Incorporate sentiment analysis from news &amp; social media</a:t>
            </a:r>
            <a:endParaRPr lang="en-US" sz="1300" dirty="0"/>
          </a:p>
        </p:txBody>
      </p:sp>
      <p:sp>
        <p:nvSpPr>
          <p:cNvPr id="10" name="Text 8"/>
          <p:cNvSpPr txBox="1"/>
          <p:nvPr/>
        </p:nvSpPr>
        <p:spPr>
          <a:xfrm>
            <a:off x="6309360" y="26060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Combine multiple models (ensemble/hybrid approach)</a:t>
            </a:r>
            <a:endParaRPr lang="en-US" sz="1300" dirty="0"/>
          </a:p>
        </p:txBody>
      </p:sp>
      <p:sp>
        <p:nvSpPr>
          <p:cNvPr id="11" name="Text 9"/>
          <p:cNvSpPr txBox="1"/>
          <p:nvPr/>
        </p:nvSpPr>
        <p:spPr>
          <a:xfrm>
            <a:off x="6309360" y="3291840"/>
            <a:ext cx="5303520" cy="594360"/>
          </a:xfrm>
          <a:prstGeom prst="rect">
            <a:avLst/>
          </a:prstGeom>
          <a:noFill/>
          <a:ln/>
        </p:spPr>
        <p:txBody>
          <a:bodyPr wrap="square" rtlCol="0" anchor="ctr"/>
          <a:lstStyle/>
          <a:p>
            <a:pPr indent="0" marL="0">
              <a:buNone/>
            </a:pPr>
            <a:r>
              <a:rPr lang="en-US" sz="1300" dirty="0">
                <a:solidFill>
                  <a:srgbClr val="CFE8EF"/>
                </a:solidFill>
                <a:latin typeface="Calibri" pitchFamily="34" charset="0"/>
                <a:ea typeface="Calibri" pitchFamily="34" charset="-122"/>
                <a:cs typeface="Calibri" pitchFamily="34" charset="-120"/>
              </a:rPr>
              <a:t>✓  Add real-time data streaming for live predictions</a:t>
            </a:r>
            <a:endParaRPr lang="en-US" sz="1300" dirty="0"/>
          </a:p>
        </p:txBody>
      </p:sp>
      <p:sp>
        <p:nvSpPr>
          <p:cNvPr id="12" name="Shape 10"/>
          <p:cNvSpPr/>
          <p:nvPr/>
        </p:nvSpPr>
        <p:spPr>
          <a:xfrm>
            <a:off x="6080760" y="1463040"/>
            <a:ext cx="0" cy="2834640"/>
          </a:xfrm>
          <a:prstGeom prst="line">
            <a:avLst/>
          </a:prstGeom>
          <a:noFill/>
          <a:ln w="12700">
            <a:solidFill>
              <a:srgbClr val="1C7293"/>
            </a:solidFill>
            <a:prstDash val="solid"/>
          </a:ln>
        </p:spPr>
      </p:sp>
      <p:sp>
        <p:nvSpPr>
          <p:cNvPr id="13" name="Text 1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Conclusion</a:t>
            </a:r>
            <a:endParaRPr lang="en-US" sz="3000" dirty="0"/>
          </a:p>
        </p:txBody>
      </p:sp>
      <p:sp>
        <p:nvSpPr>
          <p:cNvPr id="4" name="Text 2"/>
          <p:cNvSpPr txBox="1"/>
          <p:nvPr/>
        </p:nvSpPr>
        <p:spPr>
          <a:xfrm>
            <a:off x="548640" y="1737360"/>
            <a:ext cx="6675120" cy="2377440"/>
          </a:xfrm>
          <a:prstGeom prst="rect">
            <a:avLst/>
          </a:prstGeom>
          <a:noFill/>
          <a:ln/>
        </p:spPr>
        <p:txBody>
          <a:bodyPr wrap="square" rtlCol="0" anchor="ctr"/>
          <a:lstStyle/>
          <a:p>
            <a:pPr indent="0" marL="0">
              <a:lnSpc>
                <a:spcPct val="135000"/>
              </a:lnSpc>
              <a:buNone/>
            </a:pPr>
            <a:r>
              <a:rPr lang="en-US" sz="1600" dirty="0">
                <a:solidFill>
                  <a:srgbClr val="1B1F2A"/>
                </a:solidFill>
                <a:latin typeface="Calibri" pitchFamily="34" charset="0"/>
                <a:ea typeface="Calibri" pitchFamily="34" charset="-122"/>
                <a:cs typeface="Calibri" pitchFamily="34" charset="-120"/>
              </a:rPr>
              <a:t>Stock price prediction using machine learning demonstrates how historical data and models like LSTM can uncover meaningful patterns in financial time series. While no model can perfectly predict the market, this project shows a practical, data-driven approach that can meaningfully support — not replace — human decision-making in investing.</a:t>
            </a:r>
            <a:endParaRPr lang="en-US" sz="1600" dirty="0"/>
          </a:p>
        </p:txBody>
      </p:sp>
      <p:sp>
        <p:nvSpPr>
          <p:cNvPr id="5" name="Shape 3"/>
          <p:cNvSpPr/>
          <p:nvPr/>
        </p:nvSpPr>
        <p:spPr>
          <a:xfrm>
            <a:off x="7589520" y="1737360"/>
            <a:ext cx="4023360" cy="4023360"/>
          </a:xfrm>
          <a:prstGeom prst="roundRect">
            <a:avLst>
              <a:gd name="adj" fmla="val 2273"/>
            </a:avLst>
          </a:prstGeom>
          <a:solidFill>
            <a:srgbClr val="F4F8FA"/>
          </a:solidFill>
          <a:ln w="12700">
            <a:solidFill>
              <a:srgbClr val="E3E8EA"/>
            </a:solidFill>
            <a:prstDash val="solid"/>
          </a:ln>
        </p:spPr>
      </p:sp>
      <p:sp>
        <p:nvSpPr>
          <p:cNvPr id="6" name="Text 4"/>
          <p:cNvSpPr txBox="1"/>
          <p:nvPr/>
        </p:nvSpPr>
        <p:spPr>
          <a:xfrm>
            <a:off x="7818120" y="1920240"/>
            <a:ext cx="3657600" cy="320040"/>
          </a:xfrm>
          <a:prstGeom prst="rect">
            <a:avLst/>
          </a:prstGeom>
          <a:noFill/>
          <a:ln/>
        </p:spPr>
        <p:txBody>
          <a:bodyPr wrap="square"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KEY TAKEAWAYS</a:t>
            </a:r>
            <a:endParaRPr lang="en-US" sz="1200" dirty="0"/>
          </a:p>
        </p:txBody>
      </p:sp>
      <p:sp>
        <p:nvSpPr>
          <p:cNvPr id="7" name="Shape 5"/>
          <p:cNvSpPr/>
          <p:nvPr/>
        </p:nvSpPr>
        <p:spPr>
          <a:xfrm>
            <a:off x="7818120" y="2331720"/>
            <a:ext cx="292608" cy="292608"/>
          </a:xfrm>
          <a:prstGeom prst="ellipse">
            <a:avLst/>
          </a:prstGeom>
          <a:solidFill>
            <a:srgbClr val="F2A541"/>
          </a:solidFill>
          <a:ln/>
        </p:spPr>
      </p:sp>
      <p:sp>
        <p:nvSpPr>
          <p:cNvPr id="8" name="Text 6"/>
          <p:cNvSpPr txBox="1"/>
          <p:nvPr/>
        </p:nvSpPr>
        <p:spPr>
          <a:xfrm>
            <a:off x="7818120" y="2331720"/>
            <a:ext cx="292608" cy="292608"/>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8229600" y="2286000"/>
            <a:ext cx="3246120" cy="548640"/>
          </a:xfrm>
          <a:prstGeom prst="rect">
            <a:avLst/>
          </a:prstGeom>
          <a:noFill/>
          <a:ln/>
        </p:spPr>
        <p:txBody>
          <a:bodyPr wrap="square" rtlCol="0" anchor="ctr"/>
          <a:lstStyle/>
          <a:p>
            <a:pPr indent="0" marL="0">
              <a:buNone/>
            </a:pPr>
            <a:r>
              <a:rPr lang="en-US" sz="1200" dirty="0">
                <a:solidFill>
                  <a:srgbClr val="1B1F2A"/>
                </a:solidFill>
                <a:latin typeface="Calibri" pitchFamily="34" charset="0"/>
                <a:ea typeface="Calibri" pitchFamily="34" charset="-122"/>
                <a:cs typeface="Calibri" pitchFamily="34" charset="-120"/>
              </a:rPr>
              <a:t>ML models can learn non-linear market patterns</a:t>
            </a:r>
            <a:endParaRPr lang="en-US" sz="1200" dirty="0"/>
          </a:p>
        </p:txBody>
      </p:sp>
      <p:sp>
        <p:nvSpPr>
          <p:cNvPr id="10" name="Shape 8"/>
          <p:cNvSpPr/>
          <p:nvPr/>
        </p:nvSpPr>
        <p:spPr>
          <a:xfrm>
            <a:off x="7818120" y="3108960"/>
            <a:ext cx="292608" cy="292608"/>
          </a:xfrm>
          <a:prstGeom prst="ellipse">
            <a:avLst/>
          </a:prstGeom>
          <a:solidFill>
            <a:srgbClr val="F2A541"/>
          </a:solidFill>
          <a:ln/>
        </p:spPr>
      </p:sp>
      <p:sp>
        <p:nvSpPr>
          <p:cNvPr id="11" name="Text 9"/>
          <p:cNvSpPr txBox="1"/>
          <p:nvPr/>
        </p:nvSpPr>
        <p:spPr>
          <a:xfrm>
            <a:off x="7818120" y="3108960"/>
            <a:ext cx="292608" cy="292608"/>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8229600" y="3063240"/>
            <a:ext cx="3246120" cy="548640"/>
          </a:xfrm>
          <a:prstGeom prst="rect">
            <a:avLst/>
          </a:prstGeom>
          <a:noFill/>
          <a:ln/>
        </p:spPr>
        <p:txBody>
          <a:bodyPr wrap="square"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LSTM handles sequential data effectively</a:t>
            </a:r>
            <a:endParaRPr lang="en-US" sz="1200" dirty="0"/>
          </a:p>
        </p:txBody>
      </p:sp>
      <p:sp>
        <p:nvSpPr>
          <p:cNvPr id="13" name="Shape 11"/>
          <p:cNvSpPr/>
          <p:nvPr/>
        </p:nvSpPr>
        <p:spPr>
          <a:xfrm>
            <a:off x="7818120" y="3886200"/>
            <a:ext cx="292608" cy="292608"/>
          </a:xfrm>
          <a:prstGeom prst="ellipse">
            <a:avLst/>
          </a:prstGeom>
          <a:solidFill>
            <a:srgbClr val="F2A541"/>
          </a:solidFill>
          <a:ln/>
        </p:spPr>
      </p:sp>
      <p:sp>
        <p:nvSpPr>
          <p:cNvPr id="14" name="Text 12"/>
          <p:cNvSpPr txBox="1"/>
          <p:nvPr/>
        </p:nvSpPr>
        <p:spPr>
          <a:xfrm>
            <a:off x="7818120" y="3886200"/>
            <a:ext cx="292608" cy="292608"/>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8229600" y="3840480"/>
            <a:ext cx="3246120" cy="548640"/>
          </a:xfrm>
          <a:prstGeom prst="rect">
            <a:avLst/>
          </a:prstGeom>
          <a:noFill/>
          <a:ln/>
        </p:spPr>
        <p:txBody>
          <a:bodyPr wrap="square" rtlCol="0" anchor="ctr"/>
          <a:lstStyle/>
          <a:p>
            <a:pPr indent="0" marL="0">
              <a:buNone/>
            </a:pPr>
            <a:r>
              <a:rPr lang="en-US" sz="1200" dirty="0">
                <a:solidFill>
                  <a:srgbClr val="1B1F2A"/>
                </a:solidFill>
                <a:latin typeface="Calibri" pitchFamily="34" charset="0"/>
                <a:ea typeface="Calibri" pitchFamily="34" charset="-122"/>
                <a:cs typeface="Calibri" pitchFamily="34" charset="-120"/>
              </a:rPr>
              <a:t>Predictions support — don't replace — human judgment</a:t>
            </a:r>
            <a:endParaRPr lang="en-US" sz="1200" dirty="0"/>
          </a:p>
        </p:txBody>
      </p:sp>
      <p:sp>
        <p:nvSpPr>
          <p:cNvPr id="16" name="Shape 14"/>
          <p:cNvSpPr/>
          <p:nvPr/>
        </p:nvSpPr>
        <p:spPr>
          <a:xfrm>
            <a:off x="7818120" y="4663440"/>
            <a:ext cx="292608" cy="292608"/>
          </a:xfrm>
          <a:prstGeom prst="ellipse">
            <a:avLst/>
          </a:prstGeom>
          <a:solidFill>
            <a:srgbClr val="F2A541"/>
          </a:solidFill>
          <a:ln/>
        </p:spPr>
      </p:sp>
      <p:sp>
        <p:nvSpPr>
          <p:cNvPr id="17" name="Text 15"/>
          <p:cNvSpPr txBox="1"/>
          <p:nvPr/>
        </p:nvSpPr>
        <p:spPr>
          <a:xfrm>
            <a:off x="7818120" y="4663440"/>
            <a:ext cx="292608" cy="292608"/>
          </a:xfrm>
          <a:prstGeom prst="rect">
            <a:avLst/>
          </a:prstGeom>
          <a:noFill/>
          <a:ln/>
        </p:spPr>
        <p:txBody>
          <a:bodyPr wrap="square"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8229600" y="4617720"/>
            <a:ext cx="3246120" cy="548640"/>
          </a:xfrm>
          <a:prstGeom prst="rect">
            <a:avLst/>
          </a:prstGeom>
          <a:noFill/>
          <a:ln/>
        </p:spPr>
        <p:txBody>
          <a:bodyPr wrap="square" rtlCol="0" anchor="ctr"/>
          <a:lstStyle/>
          <a:p>
            <a:pPr indent="0" marL="0">
              <a:buNone/>
            </a:pPr>
            <a:r>
              <a:rPr lang="en-US" sz="1200" dirty="0">
                <a:solidFill>
                  <a:srgbClr val="1B1F2A"/>
                </a:solidFill>
                <a:latin typeface="Calibri" pitchFamily="34" charset="0"/>
                <a:ea typeface="Calibri" pitchFamily="34" charset="-122"/>
                <a:cs typeface="Calibri" pitchFamily="34" charset="-120"/>
              </a:rPr>
              <a:t>Model performance improves with more/better data</a:t>
            </a:r>
            <a:endParaRPr lang="en-US" sz="1200" dirty="0"/>
          </a:p>
        </p:txBody>
      </p:sp>
      <p:sp>
        <p:nvSpPr>
          <p:cNvPr id="19" name="Text 1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0" y="2468880"/>
            <a:ext cx="12188952"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0" y="3429000"/>
            <a:ext cx="12188952" cy="457200"/>
          </a:xfrm>
          <a:prstGeom prst="rect">
            <a:avLst/>
          </a:prstGeom>
          <a:noFill/>
          <a:ln/>
        </p:spPr>
        <p:txBody>
          <a:bodyPr wrap="square" rtlCol="0" anchor="ctr"/>
          <a:lstStyle/>
          <a:p>
            <a:pPr algn="ctr" indent="0" marL="0">
              <a:buNone/>
            </a:pPr>
            <a:r>
              <a:rPr lang="en-US" sz="1600" i="1" dirty="0">
                <a:solidFill>
                  <a:srgbClr val="CFE8EF"/>
                </a:solidFill>
                <a:latin typeface="Calibri" pitchFamily="34" charset="0"/>
                <a:ea typeface="Calibri" pitchFamily="34" charset="-122"/>
                <a:cs typeface="Calibri" pitchFamily="34" charset="-120"/>
              </a:rPr>
              <a:t>Questions &amp; Discussion</a:t>
            </a:r>
            <a:endParaRPr lang="en-US" sz="1600" dirty="0"/>
          </a:p>
        </p:txBody>
      </p:sp>
      <p:sp>
        <p:nvSpPr>
          <p:cNvPr id="4" name="Shape 2"/>
          <p:cNvSpPr/>
          <p:nvPr/>
        </p:nvSpPr>
        <p:spPr>
          <a:xfrm>
            <a:off x="4997196" y="4114800"/>
            <a:ext cx="2194560" cy="0"/>
          </a:xfrm>
          <a:prstGeom prst="line">
            <a:avLst/>
          </a:prstGeom>
          <a:noFill/>
          <a:ln w="19050">
            <a:solidFill>
              <a:srgbClr val="F2A541"/>
            </a:solidFill>
            <a:prstDash val="solid"/>
          </a:ln>
        </p:spPr>
      </p:sp>
      <p:sp>
        <p:nvSpPr>
          <p:cNvPr id="5" name="Text 3"/>
          <p:cNvSpPr txBox="1"/>
          <p:nvPr/>
        </p:nvSpPr>
        <p:spPr>
          <a:xfrm>
            <a:off x="0" y="4343400"/>
            <a:ext cx="12188952" cy="457200"/>
          </a:xfrm>
          <a:prstGeom prst="rect">
            <a:avLst/>
          </a:prstGeom>
          <a:noFill/>
          <a:ln/>
        </p:spPr>
        <p:txBody>
          <a:bodyPr wrap="square" rtlCol="0" anchor="ctr"/>
          <a:lstStyle/>
          <a:p>
            <a:pPr algn="ctr" indent="0" marL="0">
              <a:buNone/>
            </a:pPr>
            <a:r>
              <a:rPr lang="en-US" sz="1250" dirty="0">
                <a:solidFill>
                  <a:srgbClr val="1C7293"/>
                </a:solidFill>
                <a:latin typeface="Calibri" pitchFamily="34" charset="0"/>
                <a:ea typeface="Calibri" pitchFamily="34" charset="-122"/>
                <a:cs typeface="Calibri" pitchFamily="34" charset="-120"/>
              </a:rPr>
              <a:t>Prince Kumar   |   Roll No. 25SCS1003002796   |   IILM University, Greater Noida   |   Semester 3</a:t>
            </a:r>
            <a:endParaRPr lang="en-US" sz="1250" dirty="0"/>
          </a:p>
        </p:txBody>
      </p:sp>
      <p:sp>
        <p:nvSpPr>
          <p:cNvPr id="6" name="Text 4"/>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2026-09-02T17:17:33Z</dcterms:created>
  <dcterms:modified xsi:type="dcterms:W3CDTF">2026-09-02T17:17:33Z</dcterms:modified>
</cp:coreProperties>
</file>